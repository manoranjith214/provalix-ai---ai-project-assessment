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Provalix AI — AI-Based Automated Student Project Evaluation Platform. Tagline: From Project Submission to Intelligent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recurring pain points in traditional evaluation; every stage is manual and evaluator-dependent.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major modules connected by one centralized platform and one permanent User 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finalized objectives of Provalix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integrated modules on a shared platform; Project Checker stays independent of Classroom scoring.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A is the standalone Project Checker; Section B is the full classroom evaluation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Checker produces an AI score out of 100 across seven criteria plus a full analytical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management works on permanent User IDs; classroom roles are contextual, never global.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Classroom score = AI /50 + PPT &amp; Demo /25 + Viva /25. Plagiarism modifies the AI component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evaluator paths produce the same components; three evaluation statuses, two of which require a reason and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 are verified by the Classroom Owner/Admin before publishing; the leaderboard is a result view, not a separate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Impact, feasibility and future scope of Provalix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pn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png"/><Relationship Id="rId21" Type="http://schemas.openxmlformats.org/officeDocument/2006/relationships/image" Target="../media/image-12-21.png"/><Relationship Id="rId22" Type="http://schemas.openxmlformats.org/officeDocument/2006/relationships/image" Target="../media/image-12-22.png"/><Relationship Id="rId23" Type="http://schemas.openxmlformats.org/officeDocument/2006/relationships/image" Target="../media/image-12-23.png"/><Relationship Id="rId24" Type="http://schemas.openxmlformats.org/officeDocument/2006/relationships/image" Target="../media/image-12-24.png"/><Relationship Id="rId25" Type="http://schemas.openxmlformats.org/officeDocument/2006/relationships/image" Target="../media/image-12-25.png"/><Relationship Id="rId26" Type="http://schemas.openxmlformats.org/officeDocument/2006/relationships/image" Target="../media/image-12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48640"/>
            <a:ext cx="1051560" cy="10515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181051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·  AUTOMATION  ·  ACADEMIC EVALUATION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66344" y="2029968"/>
            <a:ext cx="5852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PROVALIX AI</a:t>
            </a:r>
            <a:endParaRPr lang="en-US" sz="52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290779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Automated Student Project Evaluation Platform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502920" y="3310128"/>
            <a:ext cx="5074920" cy="475488"/>
          </a:xfrm>
          <a:prstGeom prst="roundRect">
            <a:avLst>
              <a:gd name="adj" fmla="val 13462"/>
            </a:avLst>
          </a:prstGeom>
          <a:solidFill>
            <a:srgbClr val="EEF2FF"/>
          </a:solidFill>
          <a:ln w="12700">
            <a:solidFill>
              <a:srgbClr val="DDE3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22376" y="3310128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“From Project Submission to Intelligent Evaluation”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32504"/>
            <a:ext cx="192024" cy="19202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13816" y="400507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project evaluation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4032504"/>
            <a:ext cx="192024" cy="19202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557016" y="400507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detection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453128"/>
            <a:ext cx="192024" cy="19202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13816" y="4425696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management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4453128"/>
            <a:ext cx="192024" cy="192024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3557016" y="4425696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classroom evaluation</a:t>
            </a:r>
            <a:endParaRPr lang="en-US" sz="11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873752"/>
            <a:ext cx="192024" cy="192024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813816" y="484632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results &amp; leaderboard</a:t>
            </a:r>
            <a:endParaRPr lang="en-US" sz="11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6120" y="4873752"/>
            <a:ext cx="192024" cy="192024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3557016" y="484632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improvement plan</a:t>
            </a:r>
            <a:endParaRPr lang="en-US" sz="1100" dirty="0"/>
          </a:p>
        </p:txBody>
      </p:sp>
      <p:sp>
        <p:nvSpPr>
          <p:cNvPr id="20" name="Shape 11"/>
          <p:cNvSpPr/>
          <p:nvPr/>
        </p:nvSpPr>
        <p:spPr>
          <a:xfrm>
            <a:off x="502920" y="5394960"/>
            <a:ext cx="507492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2"/>
          <p:cNvSpPr txBox="1"/>
          <p:nvPr/>
        </p:nvSpPr>
        <p:spPr>
          <a:xfrm>
            <a:off x="502920" y="552297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50" dirty="0"/>
          </a:p>
        </p:txBody>
      </p:sp>
      <p:sp>
        <p:nvSpPr>
          <p:cNvPr id="22" name="Text 13"/>
          <p:cNvSpPr txBox="1"/>
          <p:nvPr/>
        </p:nvSpPr>
        <p:spPr>
          <a:xfrm>
            <a:off x="502920" y="5724144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1  ·  Team Member 2  ·  Team Member 3  ·  Team Member 4</a:t>
            </a:r>
            <a:endParaRPr lang="en-US" sz="1250" dirty="0"/>
          </a:p>
        </p:txBody>
      </p:sp>
      <p:sp>
        <p:nvSpPr>
          <p:cNvPr id="23" name="Text 14"/>
          <p:cNvSpPr txBox="1"/>
          <p:nvPr/>
        </p:nvSpPr>
        <p:spPr>
          <a:xfrm>
            <a:off x="502920" y="5998464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Artificial Intelligence &amp; Data Science</a:t>
            </a:r>
            <a:endParaRPr lang="en-US" sz="1050" dirty="0"/>
          </a:p>
        </p:txBody>
      </p:sp>
      <p:sp>
        <p:nvSpPr>
          <p:cNvPr id="24" name="Text 15"/>
          <p:cNvSpPr txBox="1"/>
          <p:nvPr/>
        </p:nvSpPr>
        <p:spPr>
          <a:xfrm>
            <a:off x="502920" y="6199632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Bannari Amman Institute of Technology</a:t>
            </a:r>
            <a:endParaRPr lang="en-US" sz="1050" dirty="0"/>
          </a:p>
        </p:txBody>
      </p:sp>
      <p:sp>
        <p:nvSpPr>
          <p:cNvPr id="25" name="Shape 16"/>
          <p:cNvSpPr/>
          <p:nvPr/>
        </p:nvSpPr>
        <p:spPr>
          <a:xfrm>
            <a:off x="6355080" y="548640"/>
            <a:ext cx="5330952" cy="5870448"/>
          </a:xfrm>
          <a:prstGeom prst="roundRect">
            <a:avLst>
              <a:gd name="adj" fmla="val 120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28600" dist="38100" dir="5400000">
              <a:srgbClr val="0F172A">
                <a:alpha val="10000"/>
              </a:srgbClr>
            </a:outerShdw>
          </a:effectLst>
        </p:spPr>
      </p:sp>
      <p:sp>
        <p:nvSpPr>
          <p:cNvPr id="26" name="Shape 17"/>
          <p:cNvSpPr/>
          <p:nvPr/>
        </p:nvSpPr>
        <p:spPr>
          <a:xfrm>
            <a:off x="6355080" y="548640"/>
            <a:ext cx="5330952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7" name="Shape 18"/>
          <p:cNvSpPr/>
          <p:nvPr/>
        </p:nvSpPr>
        <p:spPr>
          <a:xfrm>
            <a:off x="6355080" y="1005840"/>
            <a:ext cx="5330952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Shape 19"/>
          <p:cNvSpPr/>
          <p:nvPr/>
        </p:nvSpPr>
        <p:spPr>
          <a:xfrm>
            <a:off x="6556248" y="731520"/>
            <a:ext cx="100584" cy="1005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9" name="Shape 20"/>
          <p:cNvSpPr/>
          <p:nvPr/>
        </p:nvSpPr>
        <p:spPr>
          <a:xfrm>
            <a:off x="6711696" y="731520"/>
            <a:ext cx="100584" cy="1005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Shape 21"/>
          <p:cNvSpPr/>
          <p:nvPr/>
        </p:nvSpPr>
        <p:spPr>
          <a:xfrm>
            <a:off x="6867144" y="731520"/>
            <a:ext cx="100584" cy="1005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2"/>
          <p:cNvSpPr txBox="1"/>
          <p:nvPr/>
        </p:nvSpPr>
        <p:spPr>
          <a:xfrm>
            <a:off x="7104888" y="548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Provalix AI  ·  Evaluation Dashboard</a:t>
            </a:r>
            <a:endParaRPr lang="en-US" sz="1050" dirty="0"/>
          </a:p>
        </p:txBody>
      </p:sp>
      <p:sp>
        <p:nvSpPr>
          <p:cNvPr id="32" name="Shape 23"/>
          <p:cNvSpPr/>
          <p:nvPr/>
        </p:nvSpPr>
        <p:spPr>
          <a:xfrm>
            <a:off x="10863072" y="667512"/>
            <a:ext cx="603504" cy="228600"/>
          </a:xfrm>
          <a:prstGeom prst="roundRect">
            <a:avLst>
              <a:gd name="adj" fmla="val 28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3" name="Text 24"/>
          <p:cNvSpPr txBox="1"/>
          <p:nvPr/>
        </p:nvSpPr>
        <p:spPr>
          <a:xfrm>
            <a:off x="10863072" y="667512"/>
            <a:ext cx="60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34" name="Shape 25"/>
          <p:cNvSpPr/>
          <p:nvPr/>
        </p:nvSpPr>
        <p:spPr>
          <a:xfrm>
            <a:off x="6592824" y="1170432"/>
            <a:ext cx="2670048" cy="1298448"/>
          </a:xfrm>
          <a:prstGeom prst="roundRect">
            <a:avLst>
              <a:gd name="adj" fmla="val 493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26"/>
          <p:cNvSpPr txBox="1"/>
          <p:nvPr/>
        </p:nvSpPr>
        <p:spPr>
          <a:xfrm>
            <a:off x="6793992" y="133502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SCORE</a:t>
            </a:r>
            <a:endParaRPr lang="en-US" sz="850" dirty="0"/>
          </a:p>
        </p:txBody>
      </p:sp>
      <p:sp>
        <p:nvSpPr>
          <p:cNvPr id="36" name="Text 27"/>
          <p:cNvSpPr txBox="1"/>
          <p:nvPr/>
        </p:nvSpPr>
        <p:spPr>
          <a:xfrm>
            <a:off x="6775704" y="149961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4200" dirty="0"/>
          </a:p>
        </p:txBody>
      </p:sp>
      <p:sp>
        <p:nvSpPr>
          <p:cNvPr id="37" name="Text 28"/>
          <p:cNvSpPr txBox="1"/>
          <p:nvPr/>
        </p:nvSpPr>
        <p:spPr>
          <a:xfrm>
            <a:off x="7488936" y="170078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/100</a:t>
            </a:r>
            <a:endParaRPr lang="en-US" sz="1400" dirty="0"/>
          </a:p>
        </p:txBody>
      </p:sp>
      <p:sp>
        <p:nvSpPr>
          <p:cNvPr id="38" name="Shape 29"/>
          <p:cNvSpPr/>
          <p:nvPr/>
        </p:nvSpPr>
        <p:spPr>
          <a:xfrm>
            <a:off x="6793992" y="2121408"/>
            <a:ext cx="2267712" cy="10058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Shape 30"/>
          <p:cNvSpPr/>
          <p:nvPr/>
        </p:nvSpPr>
        <p:spPr>
          <a:xfrm>
            <a:off x="6793992" y="2121408"/>
            <a:ext cx="1975104" cy="10058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0" name="Text 31"/>
          <p:cNvSpPr txBox="1"/>
          <p:nvPr/>
        </p:nvSpPr>
        <p:spPr>
          <a:xfrm>
            <a:off x="6793992" y="224942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Checker · out of 100</a:t>
            </a:r>
            <a:endParaRPr lang="en-US" sz="800" dirty="0"/>
          </a:p>
        </p:txBody>
      </p:sp>
      <p:sp>
        <p:nvSpPr>
          <p:cNvPr id="41" name="Shape 32"/>
          <p:cNvSpPr/>
          <p:nvPr/>
        </p:nvSpPr>
        <p:spPr>
          <a:xfrm>
            <a:off x="9409176" y="1170432"/>
            <a:ext cx="203911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55480" y="1362456"/>
            <a:ext cx="219456" cy="219456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9884664" y="12801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</a:t>
            </a:r>
            <a:endParaRPr lang="en-US" sz="800" dirty="0"/>
          </a:p>
        </p:txBody>
      </p:sp>
      <p:sp>
        <p:nvSpPr>
          <p:cNvPr id="44" name="Text 34"/>
          <p:cNvSpPr txBox="1"/>
          <p:nvPr/>
        </p:nvSpPr>
        <p:spPr>
          <a:xfrm>
            <a:off x="9884664" y="1463040"/>
            <a:ext cx="1435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Data Science · 2026</a:t>
            </a:r>
            <a:endParaRPr lang="en-US" sz="900" dirty="0"/>
          </a:p>
        </p:txBody>
      </p:sp>
      <p:sp>
        <p:nvSpPr>
          <p:cNvPr id="45" name="Shape 35"/>
          <p:cNvSpPr/>
          <p:nvPr/>
        </p:nvSpPr>
        <p:spPr>
          <a:xfrm>
            <a:off x="9409176" y="1847088"/>
            <a:ext cx="203911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55480" y="2039112"/>
            <a:ext cx="219456" cy="219456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9884664" y="19568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800" dirty="0"/>
          </a:p>
        </p:txBody>
      </p:sp>
      <p:sp>
        <p:nvSpPr>
          <p:cNvPr id="48" name="Text 37"/>
          <p:cNvSpPr txBox="1"/>
          <p:nvPr/>
        </p:nvSpPr>
        <p:spPr>
          <a:xfrm>
            <a:off x="9884664" y="2139696"/>
            <a:ext cx="1435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Alpha · 4 members</a:t>
            </a:r>
            <a:endParaRPr lang="en-US" sz="900" dirty="0"/>
          </a:p>
        </p:txBody>
      </p:sp>
      <p:sp>
        <p:nvSpPr>
          <p:cNvPr id="49" name="Shape 38"/>
          <p:cNvSpPr/>
          <p:nvPr/>
        </p:nvSpPr>
        <p:spPr>
          <a:xfrm>
            <a:off x="6592824" y="2596896"/>
            <a:ext cx="4855464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39"/>
          <p:cNvSpPr txBox="1"/>
          <p:nvPr/>
        </p:nvSpPr>
        <p:spPr>
          <a:xfrm>
            <a:off x="6793992" y="27432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STATUS</a:t>
            </a:r>
            <a:endParaRPr lang="en-US" sz="850" dirty="0"/>
          </a:p>
        </p:txBody>
      </p:sp>
      <p:sp>
        <p:nvSpPr>
          <p:cNvPr id="51" name="Shape 40"/>
          <p:cNvSpPr/>
          <p:nvPr/>
        </p:nvSpPr>
        <p:spPr>
          <a:xfrm>
            <a:off x="6793992" y="2999232"/>
            <a:ext cx="1017270" cy="365760"/>
          </a:xfrm>
          <a:prstGeom prst="roundRect">
            <a:avLst>
              <a:gd name="adj" fmla="val 175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52" name="Text 41"/>
          <p:cNvSpPr txBox="1"/>
          <p:nvPr/>
        </p:nvSpPr>
        <p:spPr>
          <a:xfrm>
            <a:off x="6793992" y="2999232"/>
            <a:ext cx="10172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/50</a:t>
            </a:r>
            <a:endParaRPr lang="en-US" sz="900" dirty="0"/>
          </a:p>
        </p:txBody>
      </p:sp>
      <p:sp>
        <p:nvSpPr>
          <p:cNvPr id="53" name="Shape 42"/>
          <p:cNvSpPr/>
          <p:nvPr/>
        </p:nvSpPr>
        <p:spPr>
          <a:xfrm>
            <a:off x="7939278" y="2999232"/>
            <a:ext cx="1017270" cy="365760"/>
          </a:xfrm>
          <a:prstGeom prst="roundRect">
            <a:avLst>
              <a:gd name="adj" fmla="val 175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4" name="Text 43"/>
          <p:cNvSpPr txBox="1"/>
          <p:nvPr/>
        </p:nvSpPr>
        <p:spPr>
          <a:xfrm>
            <a:off x="7939278" y="2999232"/>
            <a:ext cx="10172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+ Demo /25</a:t>
            </a:r>
            <a:endParaRPr lang="en-US" sz="900" dirty="0"/>
          </a:p>
        </p:txBody>
      </p:sp>
      <p:sp>
        <p:nvSpPr>
          <p:cNvPr id="55" name="Shape 44"/>
          <p:cNvSpPr/>
          <p:nvPr/>
        </p:nvSpPr>
        <p:spPr>
          <a:xfrm>
            <a:off x="9084564" y="2999232"/>
            <a:ext cx="1017270" cy="365760"/>
          </a:xfrm>
          <a:prstGeom prst="roundRect">
            <a:avLst>
              <a:gd name="adj" fmla="val 17500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56" name="Text 45"/>
          <p:cNvSpPr txBox="1"/>
          <p:nvPr/>
        </p:nvSpPr>
        <p:spPr>
          <a:xfrm>
            <a:off x="9084564" y="2999232"/>
            <a:ext cx="10172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/25</a:t>
            </a:r>
            <a:endParaRPr lang="en-US" sz="900" dirty="0"/>
          </a:p>
        </p:txBody>
      </p:sp>
      <p:sp>
        <p:nvSpPr>
          <p:cNvPr id="57" name="Shape 46"/>
          <p:cNvSpPr/>
          <p:nvPr/>
        </p:nvSpPr>
        <p:spPr>
          <a:xfrm>
            <a:off x="10229850" y="2999232"/>
            <a:ext cx="1017270" cy="365760"/>
          </a:xfrm>
          <a:prstGeom prst="roundRect">
            <a:avLst>
              <a:gd name="adj" fmla="val 175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58" name="Text 47"/>
          <p:cNvSpPr txBox="1"/>
          <p:nvPr/>
        </p:nvSpPr>
        <p:spPr>
          <a:xfrm>
            <a:off x="10229850" y="2999232"/>
            <a:ext cx="10172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59" name="Shape 48"/>
          <p:cNvSpPr/>
          <p:nvPr/>
        </p:nvSpPr>
        <p:spPr>
          <a:xfrm>
            <a:off x="6592824" y="3730752"/>
            <a:ext cx="4855464" cy="969264"/>
          </a:xfrm>
          <a:prstGeom prst="roundRect">
            <a:avLst>
              <a:gd name="adj" fmla="val 66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49"/>
          <p:cNvSpPr txBox="1"/>
          <p:nvPr/>
        </p:nvSpPr>
        <p:spPr>
          <a:xfrm>
            <a:off x="6793992" y="38587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CHECKER  ·  CRITERIA SNAPSHOT</a:t>
            </a:r>
            <a:endParaRPr lang="en-US" sz="850" dirty="0"/>
          </a:p>
        </p:txBody>
      </p:sp>
      <p:sp>
        <p:nvSpPr>
          <p:cNvPr id="61" name="Text 50"/>
          <p:cNvSpPr txBox="1"/>
          <p:nvPr/>
        </p:nvSpPr>
        <p:spPr>
          <a:xfrm>
            <a:off x="6793992" y="4096512"/>
            <a:ext cx="102184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62" name="Text 51"/>
          <p:cNvSpPr txBox="1"/>
          <p:nvPr/>
        </p:nvSpPr>
        <p:spPr>
          <a:xfrm>
            <a:off x="6793992" y="4279392"/>
            <a:ext cx="10218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13/15</a:t>
            </a:r>
            <a:endParaRPr lang="en-US" sz="1300" dirty="0"/>
          </a:p>
        </p:txBody>
      </p:sp>
      <p:sp>
        <p:nvSpPr>
          <p:cNvPr id="63" name="Text 52"/>
          <p:cNvSpPr txBox="1"/>
          <p:nvPr/>
        </p:nvSpPr>
        <p:spPr>
          <a:xfrm>
            <a:off x="7907274" y="4096512"/>
            <a:ext cx="102184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850" dirty="0"/>
          </a:p>
        </p:txBody>
      </p:sp>
      <p:sp>
        <p:nvSpPr>
          <p:cNvPr id="64" name="Text 53"/>
          <p:cNvSpPr txBox="1"/>
          <p:nvPr/>
        </p:nvSpPr>
        <p:spPr>
          <a:xfrm>
            <a:off x="7907274" y="4279392"/>
            <a:ext cx="10218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18/20</a:t>
            </a:r>
            <a:endParaRPr lang="en-US" sz="1300" dirty="0"/>
          </a:p>
        </p:txBody>
      </p:sp>
      <p:sp>
        <p:nvSpPr>
          <p:cNvPr id="65" name="Text 54"/>
          <p:cNvSpPr txBox="1"/>
          <p:nvPr/>
        </p:nvSpPr>
        <p:spPr>
          <a:xfrm>
            <a:off x="9020556" y="4096512"/>
            <a:ext cx="102184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850" dirty="0"/>
          </a:p>
        </p:txBody>
      </p:sp>
      <p:sp>
        <p:nvSpPr>
          <p:cNvPr id="66" name="Text 55"/>
          <p:cNvSpPr txBox="1"/>
          <p:nvPr/>
        </p:nvSpPr>
        <p:spPr>
          <a:xfrm>
            <a:off x="9020556" y="4279392"/>
            <a:ext cx="10218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17/20</a:t>
            </a:r>
            <a:endParaRPr lang="en-US" sz="1300" dirty="0"/>
          </a:p>
        </p:txBody>
      </p:sp>
      <p:sp>
        <p:nvSpPr>
          <p:cNvPr id="67" name="Text 56"/>
          <p:cNvSpPr txBox="1"/>
          <p:nvPr/>
        </p:nvSpPr>
        <p:spPr>
          <a:xfrm>
            <a:off x="10133838" y="4096512"/>
            <a:ext cx="102184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850" dirty="0"/>
          </a:p>
        </p:txBody>
      </p:sp>
      <p:sp>
        <p:nvSpPr>
          <p:cNvPr id="68" name="Text 57"/>
          <p:cNvSpPr txBox="1"/>
          <p:nvPr/>
        </p:nvSpPr>
        <p:spPr>
          <a:xfrm>
            <a:off x="10133838" y="4279392"/>
            <a:ext cx="10218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1300" dirty="0"/>
          </a:p>
        </p:txBody>
      </p:sp>
      <p:sp>
        <p:nvSpPr>
          <p:cNvPr id="69" name="Shape 58"/>
          <p:cNvSpPr/>
          <p:nvPr/>
        </p:nvSpPr>
        <p:spPr>
          <a:xfrm>
            <a:off x="6592824" y="4828032"/>
            <a:ext cx="4855464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59"/>
          <p:cNvSpPr txBox="1"/>
          <p:nvPr/>
        </p:nvSpPr>
        <p:spPr>
          <a:xfrm>
            <a:off x="6793992" y="497433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850" dirty="0"/>
          </a:p>
        </p:txBody>
      </p:sp>
      <p:sp>
        <p:nvSpPr>
          <p:cNvPr id="71" name="Text 60"/>
          <p:cNvSpPr txBox="1"/>
          <p:nvPr/>
        </p:nvSpPr>
        <p:spPr>
          <a:xfrm>
            <a:off x="9985248" y="4956048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· Published</a:t>
            </a:r>
            <a:endParaRPr lang="en-US" sz="800" dirty="0"/>
          </a:p>
        </p:txBody>
      </p:sp>
      <p:sp>
        <p:nvSpPr>
          <p:cNvPr id="72" name="Shape 61"/>
          <p:cNvSpPr/>
          <p:nvPr/>
        </p:nvSpPr>
        <p:spPr>
          <a:xfrm>
            <a:off x="6793992" y="5212080"/>
            <a:ext cx="310896" cy="256032"/>
          </a:xfrm>
          <a:prstGeom prst="roundRect">
            <a:avLst>
              <a:gd name="adj" fmla="val 25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3" name="Text 62"/>
          <p:cNvSpPr txBox="1"/>
          <p:nvPr/>
        </p:nvSpPr>
        <p:spPr>
          <a:xfrm>
            <a:off x="6793992" y="521208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74" name="Text 63"/>
          <p:cNvSpPr txBox="1"/>
          <p:nvPr/>
        </p:nvSpPr>
        <p:spPr>
          <a:xfrm>
            <a:off x="7196328" y="52120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Alpha</a:t>
            </a:r>
            <a:endParaRPr lang="en-US" sz="950" dirty="0"/>
          </a:p>
        </p:txBody>
      </p:sp>
      <p:sp>
        <p:nvSpPr>
          <p:cNvPr id="75" name="Shape 64"/>
          <p:cNvSpPr/>
          <p:nvPr/>
        </p:nvSpPr>
        <p:spPr>
          <a:xfrm>
            <a:off x="8659368" y="5312664"/>
            <a:ext cx="2011680" cy="6400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76" name="Shape 65"/>
          <p:cNvSpPr/>
          <p:nvPr/>
        </p:nvSpPr>
        <p:spPr>
          <a:xfrm>
            <a:off x="8659368" y="5312664"/>
            <a:ext cx="1920240" cy="6400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7" name="Text 66"/>
          <p:cNvSpPr txBox="1"/>
          <p:nvPr/>
        </p:nvSpPr>
        <p:spPr>
          <a:xfrm>
            <a:off x="10716768" y="5212080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1200" dirty="0"/>
          </a:p>
        </p:txBody>
      </p:sp>
      <p:sp>
        <p:nvSpPr>
          <p:cNvPr id="78" name="Shape 67"/>
          <p:cNvSpPr/>
          <p:nvPr/>
        </p:nvSpPr>
        <p:spPr>
          <a:xfrm>
            <a:off x="6793992" y="5541264"/>
            <a:ext cx="310896" cy="256032"/>
          </a:xfrm>
          <a:prstGeom prst="roundRect">
            <a:avLst>
              <a:gd name="adj" fmla="val 250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79" name="Text 68"/>
          <p:cNvSpPr txBox="1"/>
          <p:nvPr/>
        </p:nvSpPr>
        <p:spPr>
          <a:xfrm>
            <a:off x="6793992" y="554126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80" name="Text 69"/>
          <p:cNvSpPr txBox="1"/>
          <p:nvPr/>
        </p:nvSpPr>
        <p:spPr>
          <a:xfrm>
            <a:off x="7196328" y="55412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Beta</a:t>
            </a:r>
            <a:endParaRPr lang="en-US" sz="950" dirty="0"/>
          </a:p>
        </p:txBody>
      </p:sp>
      <p:sp>
        <p:nvSpPr>
          <p:cNvPr id="81" name="Shape 70"/>
          <p:cNvSpPr/>
          <p:nvPr/>
        </p:nvSpPr>
        <p:spPr>
          <a:xfrm>
            <a:off x="8659368" y="5641848"/>
            <a:ext cx="2011680" cy="6400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82" name="Shape 71"/>
          <p:cNvSpPr/>
          <p:nvPr/>
        </p:nvSpPr>
        <p:spPr>
          <a:xfrm>
            <a:off x="8659368" y="5641848"/>
            <a:ext cx="1755648" cy="64008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83" name="Text 72"/>
          <p:cNvSpPr txBox="1"/>
          <p:nvPr/>
        </p:nvSpPr>
        <p:spPr>
          <a:xfrm>
            <a:off x="10716768" y="554126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1200" dirty="0"/>
          </a:p>
        </p:txBody>
      </p:sp>
      <p:sp>
        <p:nvSpPr>
          <p:cNvPr id="84" name="Shape 73"/>
          <p:cNvSpPr/>
          <p:nvPr/>
        </p:nvSpPr>
        <p:spPr>
          <a:xfrm>
            <a:off x="6793992" y="5870448"/>
            <a:ext cx="310896" cy="256032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5" name="Text 74"/>
          <p:cNvSpPr txBox="1"/>
          <p:nvPr/>
        </p:nvSpPr>
        <p:spPr>
          <a:xfrm>
            <a:off x="6793992" y="587044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86" name="Text 75"/>
          <p:cNvSpPr txBox="1"/>
          <p:nvPr/>
        </p:nvSpPr>
        <p:spPr>
          <a:xfrm>
            <a:off x="7196328" y="58704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Gamma</a:t>
            </a:r>
            <a:endParaRPr lang="en-US" sz="950" dirty="0"/>
          </a:p>
        </p:txBody>
      </p:sp>
      <p:sp>
        <p:nvSpPr>
          <p:cNvPr id="87" name="Shape 76"/>
          <p:cNvSpPr/>
          <p:nvPr/>
        </p:nvSpPr>
        <p:spPr>
          <a:xfrm>
            <a:off x="8659368" y="5971032"/>
            <a:ext cx="2011680" cy="6400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88" name="Shape 77"/>
          <p:cNvSpPr/>
          <p:nvPr/>
        </p:nvSpPr>
        <p:spPr>
          <a:xfrm>
            <a:off x="8659368" y="5971032"/>
            <a:ext cx="1609344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9" name="Text 78"/>
          <p:cNvSpPr txBox="1"/>
          <p:nvPr/>
        </p:nvSpPr>
        <p:spPr>
          <a:xfrm>
            <a:off x="10716768" y="5870448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38328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9848" y="365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1042416" y="566928"/>
            <a:ext cx="10515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Traditional Project Evaluation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124358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EVALUATION FLOW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499616"/>
            <a:ext cx="4983480" cy="429768"/>
          </a:xfrm>
          <a:prstGeom prst="roundRect">
            <a:avLst>
              <a:gd name="adj" fmla="val 1489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60477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78408" y="1499616"/>
            <a:ext cx="43616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Submission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2994660" y="1947672"/>
            <a:ext cx="0" cy="118872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0" name="Shape 6"/>
          <p:cNvSpPr/>
          <p:nvPr/>
        </p:nvSpPr>
        <p:spPr>
          <a:xfrm>
            <a:off x="502920" y="2084832"/>
            <a:ext cx="4983480" cy="429768"/>
          </a:xfrm>
          <a:prstGeom prst="roundRect">
            <a:avLst>
              <a:gd name="adj" fmla="val 1489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189988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78408" y="2084832"/>
            <a:ext cx="43616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Checking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2994660" y="2532888"/>
            <a:ext cx="0" cy="118872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4" name="Shape 9"/>
          <p:cNvSpPr/>
          <p:nvPr/>
        </p:nvSpPr>
        <p:spPr>
          <a:xfrm>
            <a:off x="502920" y="2670048"/>
            <a:ext cx="4983480" cy="429768"/>
          </a:xfrm>
          <a:prstGeom prst="roundRect">
            <a:avLst>
              <a:gd name="adj" fmla="val 1489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2775204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78408" y="2670048"/>
            <a:ext cx="43616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Checking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2994660" y="3118104"/>
            <a:ext cx="0" cy="118872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8" name="Shape 12"/>
          <p:cNvSpPr/>
          <p:nvPr/>
        </p:nvSpPr>
        <p:spPr>
          <a:xfrm>
            <a:off x="502920" y="3255264"/>
            <a:ext cx="4983480" cy="429768"/>
          </a:xfrm>
          <a:prstGeom prst="roundRect">
            <a:avLst>
              <a:gd name="adj" fmla="val 1489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3360420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78408" y="3255264"/>
            <a:ext cx="43616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Evaluation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2994660" y="3703320"/>
            <a:ext cx="0" cy="118872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02920" y="3840480"/>
            <a:ext cx="4983480" cy="429768"/>
          </a:xfrm>
          <a:prstGeom prst="roundRect">
            <a:avLst>
              <a:gd name="adj" fmla="val 1489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3945636"/>
            <a:ext cx="219456" cy="219456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978408" y="3840480"/>
            <a:ext cx="43616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</a:t>
            </a:r>
            <a:endParaRPr lang="en-US" sz="1150" dirty="0"/>
          </a:p>
        </p:txBody>
      </p:sp>
      <p:sp>
        <p:nvSpPr>
          <p:cNvPr id="25" name="Shape 17"/>
          <p:cNvSpPr/>
          <p:nvPr/>
        </p:nvSpPr>
        <p:spPr>
          <a:xfrm>
            <a:off x="2994660" y="4288536"/>
            <a:ext cx="0" cy="118872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6" name="Shape 18"/>
          <p:cNvSpPr/>
          <p:nvPr/>
        </p:nvSpPr>
        <p:spPr>
          <a:xfrm>
            <a:off x="502920" y="4425696"/>
            <a:ext cx="4983480" cy="429768"/>
          </a:xfrm>
          <a:prstGeom prst="roundRect">
            <a:avLst>
              <a:gd name="adj" fmla="val 1489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4530852"/>
            <a:ext cx="219456" cy="219456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978408" y="4425696"/>
            <a:ext cx="43616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Preparation</a:t>
            </a:r>
            <a:endParaRPr lang="en-US" sz="1150" dirty="0"/>
          </a:p>
        </p:txBody>
      </p:sp>
      <p:sp>
        <p:nvSpPr>
          <p:cNvPr id="29" name="Shape 20"/>
          <p:cNvSpPr/>
          <p:nvPr/>
        </p:nvSpPr>
        <p:spPr>
          <a:xfrm>
            <a:off x="2994660" y="4873752"/>
            <a:ext cx="0" cy="118872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30" name="Shape 21"/>
          <p:cNvSpPr/>
          <p:nvPr/>
        </p:nvSpPr>
        <p:spPr>
          <a:xfrm>
            <a:off x="502920" y="5010912"/>
            <a:ext cx="4983480" cy="429768"/>
          </a:xfrm>
          <a:prstGeom prst="roundRect">
            <a:avLst>
              <a:gd name="adj" fmla="val 1489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" y="5116068"/>
            <a:ext cx="219456" cy="219456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978408" y="5010912"/>
            <a:ext cx="43616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150" dirty="0"/>
          </a:p>
        </p:txBody>
      </p:sp>
      <p:sp>
        <p:nvSpPr>
          <p:cNvPr id="33" name="Shape 23"/>
          <p:cNvSpPr/>
          <p:nvPr/>
        </p:nvSpPr>
        <p:spPr>
          <a:xfrm>
            <a:off x="502920" y="5742432"/>
            <a:ext cx="4983480" cy="603504"/>
          </a:xfrm>
          <a:prstGeom prst="roundRect">
            <a:avLst>
              <a:gd name="adj" fmla="val 10606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34" name="Text 24"/>
          <p:cNvSpPr txBox="1"/>
          <p:nvPr/>
        </p:nvSpPr>
        <p:spPr>
          <a:xfrm>
            <a:off x="1161288" y="5742432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is manual, sequential and evaluator-dependent.</a:t>
            </a:r>
            <a:endParaRPr lang="en-US" sz="115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952" y="5943600"/>
            <a:ext cx="219456" cy="219456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5788152" y="124358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DOES NOT SCALE</a:t>
            </a:r>
            <a:endParaRPr lang="en-US" sz="950" dirty="0"/>
          </a:p>
        </p:txBody>
      </p:sp>
      <p:sp>
        <p:nvSpPr>
          <p:cNvPr id="37" name="Shape 26"/>
          <p:cNvSpPr/>
          <p:nvPr/>
        </p:nvSpPr>
        <p:spPr>
          <a:xfrm>
            <a:off x="5788152" y="1499616"/>
            <a:ext cx="2862072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38" name="Shape 27"/>
          <p:cNvSpPr/>
          <p:nvPr/>
        </p:nvSpPr>
        <p:spPr>
          <a:xfrm>
            <a:off x="5989320" y="1700784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62472" y="1773936"/>
            <a:ext cx="219456" cy="219456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8083296" y="1700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41" name="Text 29"/>
          <p:cNvSpPr txBox="1"/>
          <p:nvPr/>
        </p:nvSpPr>
        <p:spPr>
          <a:xfrm>
            <a:off x="5989320" y="2157984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Consuming</a:t>
            </a:r>
            <a:endParaRPr lang="en-US" sz="1400" dirty="0"/>
          </a:p>
        </p:txBody>
      </p:sp>
      <p:sp>
        <p:nvSpPr>
          <p:cNvPr id="42" name="Text 30"/>
          <p:cNvSpPr txBox="1"/>
          <p:nvPr/>
        </p:nvSpPr>
        <p:spPr>
          <a:xfrm>
            <a:off x="5989320" y="2450592"/>
            <a:ext cx="2459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is checked, scored and recorded manually.</a:t>
            </a:r>
            <a:endParaRPr lang="en-US" sz="1050" dirty="0"/>
          </a:p>
        </p:txBody>
      </p:sp>
      <p:sp>
        <p:nvSpPr>
          <p:cNvPr id="43" name="Shape 31"/>
          <p:cNvSpPr/>
          <p:nvPr/>
        </p:nvSpPr>
        <p:spPr>
          <a:xfrm>
            <a:off x="8823960" y="1499616"/>
            <a:ext cx="2862072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44" name="Shape 32"/>
          <p:cNvSpPr/>
          <p:nvPr/>
        </p:nvSpPr>
        <p:spPr>
          <a:xfrm>
            <a:off x="9025128" y="1700784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98280" y="1773936"/>
            <a:ext cx="219456" cy="219456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11119104" y="1700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47" name="Text 34"/>
          <p:cNvSpPr txBox="1"/>
          <p:nvPr/>
        </p:nvSpPr>
        <p:spPr>
          <a:xfrm>
            <a:off x="9025128" y="2157984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</a:t>
            </a:r>
            <a:endParaRPr lang="en-US" sz="1400" dirty="0"/>
          </a:p>
        </p:txBody>
      </p:sp>
      <p:sp>
        <p:nvSpPr>
          <p:cNvPr id="48" name="Text 35"/>
          <p:cNvSpPr txBox="1"/>
          <p:nvPr/>
        </p:nvSpPr>
        <p:spPr>
          <a:xfrm>
            <a:off x="9025128" y="2450592"/>
            <a:ext cx="2459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standards may differ between evaluators and batches.</a:t>
            </a:r>
            <a:endParaRPr lang="en-US" sz="1050" dirty="0"/>
          </a:p>
        </p:txBody>
      </p:sp>
      <p:sp>
        <p:nvSpPr>
          <p:cNvPr id="49" name="Shape 36"/>
          <p:cNvSpPr/>
          <p:nvPr/>
        </p:nvSpPr>
        <p:spPr>
          <a:xfrm>
            <a:off x="5788152" y="3163824"/>
            <a:ext cx="2862072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50" name="Shape 37"/>
          <p:cNvSpPr/>
          <p:nvPr/>
        </p:nvSpPr>
        <p:spPr>
          <a:xfrm>
            <a:off x="5989320" y="3364992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62472" y="3438144"/>
            <a:ext cx="219456" cy="219456"/>
          </a:xfrm>
          <a:prstGeom prst="rect">
            <a:avLst/>
          </a:prstGeom>
        </p:spPr>
      </p:pic>
      <p:sp>
        <p:nvSpPr>
          <p:cNvPr id="52" name="Text 38"/>
          <p:cNvSpPr txBox="1"/>
          <p:nvPr/>
        </p:nvSpPr>
        <p:spPr>
          <a:xfrm>
            <a:off x="8083296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53" name="Text 39"/>
          <p:cNvSpPr txBox="1"/>
          <p:nvPr/>
        </p:nvSpPr>
        <p:spPr>
          <a:xfrm>
            <a:off x="5989320" y="3822192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Scale</a:t>
            </a:r>
            <a:endParaRPr lang="en-US" sz="1400" dirty="0"/>
          </a:p>
        </p:txBody>
      </p:sp>
      <p:sp>
        <p:nvSpPr>
          <p:cNvPr id="54" name="Text 40"/>
          <p:cNvSpPr txBox="1"/>
          <p:nvPr/>
        </p:nvSpPr>
        <p:spPr>
          <a:xfrm>
            <a:off x="5989320" y="4114800"/>
            <a:ext cx="2459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numbers of submissions create heavy workload for evaluators.</a:t>
            </a:r>
            <a:endParaRPr lang="en-US" sz="1050" dirty="0"/>
          </a:p>
        </p:txBody>
      </p:sp>
      <p:sp>
        <p:nvSpPr>
          <p:cNvPr id="55" name="Shape 41"/>
          <p:cNvSpPr/>
          <p:nvPr/>
        </p:nvSpPr>
        <p:spPr>
          <a:xfrm>
            <a:off x="8823960" y="3163824"/>
            <a:ext cx="2862072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56" name="Shape 42"/>
          <p:cNvSpPr/>
          <p:nvPr/>
        </p:nvSpPr>
        <p:spPr>
          <a:xfrm>
            <a:off x="9025128" y="3364992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pic>
        <p:nvPicPr>
          <p:cNvPr id="5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98280" y="3438144"/>
            <a:ext cx="219456" cy="219456"/>
          </a:xfrm>
          <a:prstGeom prst="rect">
            <a:avLst/>
          </a:prstGeom>
        </p:spPr>
      </p:pic>
      <p:sp>
        <p:nvSpPr>
          <p:cNvPr id="58" name="Text 43"/>
          <p:cNvSpPr txBox="1"/>
          <p:nvPr/>
        </p:nvSpPr>
        <p:spPr>
          <a:xfrm>
            <a:off x="11119104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59" name="Text 44"/>
          <p:cNvSpPr txBox="1"/>
          <p:nvPr/>
        </p:nvSpPr>
        <p:spPr>
          <a:xfrm>
            <a:off x="9025128" y="3822192"/>
            <a:ext cx="2459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Feedback</a:t>
            </a:r>
            <a:endParaRPr lang="en-US" sz="1400" dirty="0"/>
          </a:p>
        </p:txBody>
      </p:sp>
      <p:sp>
        <p:nvSpPr>
          <p:cNvPr id="60" name="Text 45"/>
          <p:cNvSpPr txBox="1"/>
          <p:nvPr/>
        </p:nvSpPr>
        <p:spPr>
          <a:xfrm>
            <a:off x="9025128" y="4114800"/>
            <a:ext cx="2459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often receive marks without detailed actionable guidance.</a:t>
            </a:r>
            <a:endParaRPr lang="en-US" sz="1050" dirty="0"/>
          </a:p>
        </p:txBody>
      </p:sp>
      <p:sp>
        <p:nvSpPr>
          <p:cNvPr id="61" name="Shape 46"/>
          <p:cNvSpPr/>
          <p:nvPr/>
        </p:nvSpPr>
        <p:spPr>
          <a:xfrm>
            <a:off x="5788152" y="4828032"/>
            <a:ext cx="5897880" cy="1517904"/>
          </a:xfrm>
          <a:prstGeom prst="roundRect">
            <a:avLst>
              <a:gd name="adj" fmla="val 4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62" name="Shape 47"/>
          <p:cNvSpPr/>
          <p:nvPr/>
        </p:nvSpPr>
        <p:spPr>
          <a:xfrm>
            <a:off x="5989320" y="5029200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pic>
        <p:nvPicPr>
          <p:cNvPr id="6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62472" y="5102352"/>
            <a:ext cx="219456" cy="219456"/>
          </a:xfrm>
          <a:prstGeom prst="rect">
            <a:avLst/>
          </a:prstGeom>
        </p:spPr>
      </p:pic>
      <p:sp>
        <p:nvSpPr>
          <p:cNvPr id="64" name="Text 48"/>
          <p:cNvSpPr txBox="1"/>
          <p:nvPr/>
        </p:nvSpPr>
        <p:spPr>
          <a:xfrm>
            <a:off x="6464808" y="5029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65" name="Text 49"/>
          <p:cNvSpPr txBox="1"/>
          <p:nvPr/>
        </p:nvSpPr>
        <p:spPr>
          <a:xfrm>
            <a:off x="9674352" y="50292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recurring pain points</a:t>
            </a:r>
            <a:endParaRPr lang="en-US" sz="950" dirty="0"/>
          </a:p>
        </p:txBody>
      </p:sp>
      <p:sp>
        <p:nvSpPr>
          <p:cNvPr id="66" name="Text 50"/>
          <p:cNvSpPr txBox="1"/>
          <p:nvPr/>
        </p:nvSpPr>
        <p:spPr>
          <a:xfrm>
            <a:off x="5989320" y="5486400"/>
            <a:ext cx="5495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Result Management</a:t>
            </a:r>
            <a:endParaRPr lang="en-US" sz="1400" dirty="0"/>
          </a:p>
        </p:txBody>
      </p:sp>
      <p:sp>
        <p:nvSpPr>
          <p:cNvPr id="67" name="Text 51"/>
          <p:cNvSpPr txBox="1"/>
          <p:nvPr/>
        </p:nvSpPr>
        <p:spPr>
          <a:xfrm>
            <a:off x="5989320" y="5779008"/>
            <a:ext cx="5495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Marks, plagiarism checks, viva scores and ranking may be maintained separately — making verification, publishing and record-keeping slower and error-prone.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38328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9848" y="365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1042416" y="566928"/>
            <a:ext cx="10515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Provalix AI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1042416" y="104241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Centralized Project Evaluation Platform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2920" y="1335024"/>
            <a:ext cx="3931920" cy="1938528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22376" y="155448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636776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758184" y="15544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22376" y="2066544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CHECKER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22376" y="2377440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AI project evaluation, independent of classroom scoring.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22376" y="2761488"/>
            <a:ext cx="1495958" cy="310896"/>
          </a:xfrm>
          <a:prstGeom prst="roundRect">
            <a:avLst>
              <a:gd name="adj" fmla="val 20588"/>
            </a:avLst>
          </a:prstGeom>
          <a:solidFill>
            <a:srgbClr val="F5F3FF"/>
          </a:solidFill>
          <a:ln w="12700">
            <a:solidFill>
              <a:srgbClr val="E9E3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22376" y="2761488"/>
            <a:ext cx="14959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module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346350" y="2761488"/>
            <a:ext cx="671170" cy="310896"/>
          </a:xfrm>
          <a:prstGeom prst="roundRect">
            <a:avLst>
              <a:gd name="adj" fmla="val 20588"/>
            </a:avLst>
          </a:prstGeom>
          <a:solidFill>
            <a:srgbClr val="F5F3FF"/>
          </a:solidFill>
          <a:ln w="12700">
            <a:solidFill>
              <a:srgbClr val="E9E3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346350" y="2761488"/>
            <a:ext cx="6711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/100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7754112" y="1335024"/>
            <a:ext cx="3931920" cy="1938528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973568" y="155448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864" y="1636776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1009376" y="15544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7973568" y="2066544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MANAGEMENT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7973568" y="2377440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teams, invite members using User ID and manage reusable teams.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7973568" y="2761488"/>
            <a:ext cx="1271016" cy="310896"/>
          </a:xfrm>
          <a:prstGeom prst="roundRect">
            <a:avLst>
              <a:gd name="adj" fmla="val 20588"/>
            </a:avLst>
          </a:prstGeom>
          <a:solidFill>
            <a:srgbClr val="F5F3FF"/>
          </a:solidFill>
          <a:ln w="12700">
            <a:solidFill>
              <a:srgbClr val="E9E3FF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973568" y="2761488"/>
            <a:ext cx="1271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ID invites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9372600" y="2761488"/>
            <a:ext cx="1196035" cy="310896"/>
          </a:xfrm>
          <a:prstGeom prst="roundRect">
            <a:avLst>
              <a:gd name="adj" fmla="val 20588"/>
            </a:avLst>
          </a:prstGeom>
          <a:solidFill>
            <a:srgbClr val="F5F3FF"/>
          </a:solidFill>
          <a:ln w="12700">
            <a:solidFill>
              <a:srgbClr val="E9E3FF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9372600" y="2761488"/>
            <a:ext cx="11960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teams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502920" y="3511296"/>
            <a:ext cx="3931920" cy="1938528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22376" y="3730752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813048"/>
            <a:ext cx="237744" cy="237744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3758184" y="373075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722376" y="4242816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722376" y="4553712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and Team submissions with configurable evaluation.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722376" y="4937760"/>
            <a:ext cx="1420978" cy="310896"/>
          </a:xfrm>
          <a:prstGeom prst="roundRect">
            <a:avLst>
              <a:gd name="adj" fmla="val 20588"/>
            </a:avLst>
          </a:prstGeom>
          <a:solidFill>
            <a:srgbClr val="F5F3FF"/>
          </a:solidFill>
          <a:ln w="12700">
            <a:solidFill>
              <a:srgbClr val="E9E3FF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722376" y="4937760"/>
            <a:ext cx="14209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/ Team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2271370" y="4937760"/>
            <a:ext cx="1046074" cy="310896"/>
          </a:xfrm>
          <a:prstGeom prst="roundRect">
            <a:avLst>
              <a:gd name="adj" fmla="val 20588"/>
            </a:avLst>
          </a:prstGeom>
          <a:solidFill>
            <a:srgbClr val="F5F3FF"/>
          </a:solidFill>
          <a:ln w="12700">
            <a:solidFill>
              <a:srgbClr val="E9E3FF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2271370" y="4937760"/>
            <a:ext cx="10460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7754112" y="3511296"/>
            <a:ext cx="3931920" cy="1938528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7973568" y="3730752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5864" y="3813048"/>
            <a:ext cx="237744" cy="237744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11009376" y="373075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40" name="Text 33"/>
          <p:cNvSpPr txBox="1"/>
          <p:nvPr/>
        </p:nvSpPr>
        <p:spPr>
          <a:xfrm>
            <a:off x="7973568" y="4242816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RESULTS</a:t>
            </a:r>
            <a:endParaRPr lang="en-US" sz="1500" dirty="0"/>
          </a:p>
        </p:txBody>
      </p:sp>
      <p:sp>
        <p:nvSpPr>
          <p:cNvPr id="41" name="Text 34"/>
          <p:cNvSpPr txBox="1"/>
          <p:nvPr/>
        </p:nvSpPr>
        <p:spPr>
          <a:xfrm>
            <a:off x="7973568" y="4553712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PPT/Demo + Viva + Verification + Leaderboard + Improvement Plan.</a:t>
            </a:r>
            <a:endParaRPr lang="en-US" sz="1050" dirty="0"/>
          </a:p>
        </p:txBody>
      </p:sp>
      <p:sp>
        <p:nvSpPr>
          <p:cNvPr id="42" name="Shape 35"/>
          <p:cNvSpPr/>
          <p:nvPr/>
        </p:nvSpPr>
        <p:spPr>
          <a:xfrm>
            <a:off x="7973568" y="4937760"/>
            <a:ext cx="1345997" cy="310896"/>
          </a:xfrm>
          <a:prstGeom prst="roundRect">
            <a:avLst>
              <a:gd name="adj" fmla="val 20588"/>
            </a:avLst>
          </a:prstGeom>
          <a:solidFill>
            <a:srgbClr val="F5F3FF"/>
          </a:solidFill>
          <a:ln w="12700">
            <a:solidFill>
              <a:srgbClr val="E9E3F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7973568" y="4937760"/>
            <a:ext cx="13459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/50 + 25 + 25</a:t>
            </a:r>
            <a:endParaRPr lang="en-US" sz="900" dirty="0"/>
          </a:p>
        </p:txBody>
      </p:sp>
      <p:sp>
        <p:nvSpPr>
          <p:cNvPr id="44" name="Shape 37"/>
          <p:cNvSpPr/>
          <p:nvPr/>
        </p:nvSpPr>
        <p:spPr>
          <a:xfrm>
            <a:off x="9447581" y="4937760"/>
            <a:ext cx="1345997" cy="310896"/>
          </a:xfrm>
          <a:prstGeom prst="roundRect">
            <a:avLst>
              <a:gd name="adj" fmla="val 20588"/>
            </a:avLst>
          </a:prstGeom>
          <a:solidFill>
            <a:srgbClr val="F5F3FF"/>
          </a:solidFill>
          <a:ln w="12700">
            <a:solidFill>
              <a:srgbClr val="E9E3FF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9447581" y="4937760"/>
            <a:ext cx="13459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results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4434840" y="2304288"/>
            <a:ext cx="457200" cy="676656"/>
          </a:xfrm>
          <a:prstGeom prst="line">
            <a:avLst/>
          </a:prstGeom>
          <a:noFill/>
          <a:ln w="15875">
            <a:solidFill>
              <a:srgbClr val="D6DEEB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 flipV="1">
            <a:off x="7296912" y="2304288"/>
            <a:ext cx="457200" cy="676656"/>
          </a:xfrm>
          <a:prstGeom prst="line">
            <a:avLst/>
          </a:prstGeom>
          <a:noFill/>
          <a:ln w="15875">
            <a:solidFill>
              <a:srgbClr val="D6DEEB"/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 flipV="1">
            <a:off x="4434840" y="3803904"/>
            <a:ext cx="457200" cy="676656"/>
          </a:xfrm>
          <a:prstGeom prst="line">
            <a:avLst/>
          </a:prstGeom>
          <a:noFill/>
          <a:ln w="15875">
            <a:solidFill>
              <a:srgbClr val="D6DEEB"/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7296912" y="3803904"/>
            <a:ext cx="457200" cy="676656"/>
          </a:xfrm>
          <a:prstGeom prst="line">
            <a:avLst/>
          </a:prstGeom>
          <a:noFill/>
          <a:ln w="15875">
            <a:solidFill>
              <a:srgbClr val="D6DEEB"/>
            </a:solidFill>
            <a:prstDash val="solid"/>
          </a:ln>
        </p:spPr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660904"/>
            <a:ext cx="2404872" cy="1463040"/>
          </a:xfrm>
          <a:prstGeom prst="rect">
            <a:avLst/>
          </a:prstGeom>
        </p:spPr>
      </p:pic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3308" y="2862072"/>
            <a:ext cx="402336" cy="402336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4892040" y="3319272"/>
            <a:ext cx="2404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PROVALIX AI</a:t>
            </a:r>
            <a:endParaRPr lang="en-US" sz="1600" dirty="0"/>
          </a:p>
        </p:txBody>
      </p:sp>
      <p:sp>
        <p:nvSpPr>
          <p:cNvPr id="53" name="Text 44"/>
          <p:cNvSpPr txBox="1"/>
          <p:nvPr/>
        </p:nvSpPr>
        <p:spPr>
          <a:xfrm>
            <a:off x="4892040" y="3630168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DD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 ID  ·  One platform</a:t>
            </a:r>
            <a:endParaRPr lang="en-US" sz="950" dirty="0"/>
          </a:p>
        </p:txBody>
      </p:sp>
      <p:sp>
        <p:nvSpPr>
          <p:cNvPr id="54" name="Text 45"/>
          <p:cNvSpPr txBox="1"/>
          <p:nvPr/>
        </p:nvSpPr>
        <p:spPr>
          <a:xfrm>
            <a:off x="502920" y="56509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PLATFORM FLOW</a:t>
            </a:r>
            <a:endParaRPr lang="en-US" sz="950" dirty="0"/>
          </a:p>
        </p:txBody>
      </p:sp>
      <p:sp>
        <p:nvSpPr>
          <p:cNvPr id="55" name="Shape 46"/>
          <p:cNvSpPr/>
          <p:nvPr/>
        </p:nvSpPr>
        <p:spPr>
          <a:xfrm>
            <a:off x="502920" y="5870448"/>
            <a:ext cx="1481328" cy="512064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47"/>
          <p:cNvSpPr txBox="1"/>
          <p:nvPr/>
        </p:nvSpPr>
        <p:spPr>
          <a:xfrm>
            <a:off x="548640" y="5870448"/>
            <a:ext cx="1389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850" dirty="0"/>
          </a:p>
        </p:txBody>
      </p:sp>
      <p:sp>
        <p:nvSpPr>
          <p:cNvPr id="57" name="Shape 48"/>
          <p:cNvSpPr/>
          <p:nvPr/>
        </p:nvSpPr>
        <p:spPr>
          <a:xfrm>
            <a:off x="1993392" y="6126480"/>
            <a:ext cx="114300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58" name="Shape 49"/>
          <p:cNvSpPr/>
          <p:nvPr/>
        </p:nvSpPr>
        <p:spPr>
          <a:xfrm>
            <a:off x="2116836" y="5870448"/>
            <a:ext cx="1481328" cy="512064"/>
          </a:xfrm>
          <a:prstGeom prst="round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DDE3FF"/>
            </a:solidFill>
            <a:prstDash val="solid"/>
          </a:ln>
        </p:spPr>
      </p:sp>
      <p:sp>
        <p:nvSpPr>
          <p:cNvPr id="59" name="Text 50"/>
          <p:cNvSpPr txBox="1"/>
          <p:nvPr/>
        </p:nvSpPr>
        <p:spPr>
          <a:xfrm>
            <a:off x="2162556" y="5870448"/>
            <a:ext cx="1389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Checker</a:t>
            </a:r>
            <a:endParaRPr lang="en-US" sz="850" dirty="0"/>
          </a:p>
        </p:txBody>
      </p:sp>
      <p:sp>
        <p:nvSpPr>
          <p:cNvPr id="60" name="Shape 51"/>
          <p:cNvSpPr/>
          <p:nvPr/>
        </p:nvSpPr>
        <p:spPr>
          <a:xfrm>
            <a:off x="3607308" y="6126480"/>
            <a:ext cx="114300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61" name="Shape 52"/>
          <p:cNvSpPr/>
          <p:nvPr/>
        </p:nvSpPr>
        <p:spPr>
          <a:xfrm>
            <a:off x="3730752" y="5870448"/>
            <a:ext cx="1481328" cy="512064"/>
          </a:xfrm>
          <a:prstGeom prst="round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DDE3FF"/>
            </a:solidFill>
            <a:prstDash val="solid"/>
          </a:ln>
        </p:spPr>
      </p:sp>
      <p:sp>
        <p:nvSpPr>
          <p:cNvPr id="62" name="Text 53"/>
          <p:cNvSpPr txBox="1"/>
          <p:nvPr/>
        </p:nvSpPr>
        <p:spPr>
          <a:xfrm>
            <a:off x="3776472" y="5870448"/>
            <a:ext cx="1389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Management</a:t>
            </a:r>
            <a:endParaRPr lang="en-US" sz="850" dirty="0"/>
          </a:p>
        </p:txBody>
      </p:sp>
      <p:sp>
        <p:nvSpPr>
          <p:cNvPr id="63" name="Shape 54"/>
          <p:cNvSpPr/>
          <p:nvPr/>
        </p:nvSpPr>
        <p:spPr>
          <a:xfrm>
            <a:off x="5221224" y="6126480"/>
            <a:ext cx="114300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64" name="Shape 55"/>
          <p:cNvSpPr/>
          <p:nvPr/>
        </p:nvSpPr>
        <p:spPr>
          <a:xfrm>
            <a:off x="5344668" y="5870448"/>
            <a:ext cx="1481328" cy="512064"/>
          </a:xfrm>
          <a:prstGeom prst="round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DDE3FF"/>
            </a:solidFill>
            <a:prstDash val="solid"/>
          </a:ln>
        </p:spPr>
      </p:sp>
      <p:sp>
        <p:nvSpPr>
          <p:cNvPr id="65" name="Text 56"/>
          <p:cNvSpPr txBox="1"/>
          <p:nvPr/>
        </p:nvSpPr>
        <p:spPr>
          <a:xfrm>
            <a:off x="5390388" y="5870448"/>
            <a:ext cx="1389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</a:t>
            </a:r>
            <a:endParaRPr lang="en-US" sz="850" dirty="0"/>
          </a:p>
        </p:txBody>
      </p:sp>
      <p:sp>
        <p:nvSpPr>
          <p:cNvPr id="66" name="Shape 57"/>
          <p:cNvSpPr/>
          <p:nvPr/>
        </p:nvSpPr>
        <p:spPr>
          <a:xfrm>
            <a:off x="6835140" y="6126480"/>
            <a:ext cx="114300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67" name="Shape 58"/>
          <p:cNvSpPr/>
          <p:nvPr/>
        </p:nvSpPr>
        <p:spPr>
          <a:xfrm>
            <a:off x="6958584" y="5870448"/>
            <a:ext cx="1481328" cy="512064"/>
          </a:xfrm>
          <a:prstGeom prst="round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DDE3FF"/>
            </a:solidFill>
            <a:prstDash val="solid"/>
          </a:ln>
        </p:spPr>
      </p:sp>
      <p:sp>
        <p:nvSpPr>
          <p:cNvPr id="68" name="Text 59"/>
          <p:cNvSpPr txBox="1"/>
          <p:nvPr/>
        </p:nvSpPr>
        <p:spPr>
          <a:xfrm>
            <a:off x="7004304" y="5870448"/>
            <a:ext cx="1389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Human Evaluation</a:t>
            </a:r>
            <a:endParaRPr lang="en-US" sz="850" dirty="0"/>
          </a:p>
        </p:txBody>
      </p:sp>
      <p:sp>
        <p:nvSpPr>
          <p:cNvPr id="69" name="Shape 60"/>
          <p:cNvSpPr/>
          <p:nvPr/>
        </p:nvSpPr>
        <p:spPr>
          <a:xfrm>
            <a:off x="8449056" y="6126480"/>
            <a:ext cx="114300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70" name="Shape 61"/>
          <p:cNvSpPr/>
          <p:nvPr/>
        </p:nvSpPr>
        <p:spPr>
          <a:xfrm>
            <a:off x="8572500" y="5870448"/>
            <a:ext cx="1481328" cy="512064"/>
          </a:xfrm>
          <a:prstGeom prst="round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DDE3FF"/>
            </a:solidFill>
            <a:prstDash val="solid"/>
          </a:ln>
        </p:spPr>
      </p:sp>
      <p:sp>
        <p:nvSpPr>
          <p:cNvPr id="71" name="Text 62"/>
          <p:cNvSpPr txBox="1"/>
          <p:nvPr/>
        </p:nvSpPr>
        <p:spPr>
          <a:xfrm>
            <a:off x="8618220" y="5870448"/>
            <a:ext cx="1389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850" dirty="0"/>
          </a:p>
        </p:txBody>
      </p:sp>
      <p:sp>
        <p:nvSpPr>
          <p:cNvPr id="72" name="Shape 63"/>
          <p:cNvSpPr/>
          <p:nvPr/>
        </p:nvSpPr>
        <p:spPr>
          <a:xfrm>
            <a:off x="10062972" y="6126480"/>
            <a:ext cx="114300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73" name="Shape 64"/>
          <p:cNvSpPr/>
          <p:nvPr/>
        </p:nvSpPr>
        <p:spPr>
          <a:xfrm>
            <a:off x="10186416" y="5870448"/>
            <a:ext cx="1481328" cy="512064"/>
          </a:xfrm>
          <a:prstGeom prst="round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DDE3FF"/>
            </a:solidFill>
            <a:prstDash val="solid"/>
          </a:ln>
        </p:spPr>
      </p:sp>
      <p:sp>
        <p:nvSpPr>
          <p:cNvPr id="74" name="Text 65"/>
          <p:cNvSpPr txBox="1"/>
          <p:nvPr/>
        </p:nvSpPr>
        <p:spPr>
          <a:xfrm>
            <a:off x="10232136" y="5870448"/>
            <a:ext cx="1389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Leaderboard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38328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9848" y="365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1042416" y="566928"/>
            <a:ext cx="10515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Provalix AI Aims to Achieve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1042416" y="104241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objectives delivered by four integrated modules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2920" y="1335024"/>
            <a:ext cx="2105497" cy="2249424"/>
          </a:xfrm>
          <a:prstGeom prst="roundRect">
            <a:avLst>
              <a:gd name="adj" fmla="val 30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04088" y="1554480"/>
            <a:ext cx="512064" cy="475488"/>
          </a:xfrm>
          <a:prstGeom prst="roundRect">
            <a:avLst>
              <a:gd name="adj" fmla="val 13462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04088" y="1554480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929" y="166420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04088" y="2176272"/>
            <a:ext cx="170316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Evaluation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704088" y="2724912"/>
            <a:ext cx="493776" cy="27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04088" y="2871216"/>
            <a:ext cx="17031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project evaluation using AI models.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773009" y="1335024"/>
            <a:ext cx="2105497" cy="2249424"/>
          </a:xfrm>
          <a:prstGeom prst="roundRect">
            <a:avLst>
              <a:gd name="adj" fmla="val 30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974177" y="1554480"/>
            <a:ext cx="512064" cy="475488"/>
          </a:xfrm>
          <a:prstGeom prst="roundRect">
            <a:avLst>
              <a:gd name="adj" fmla="val 13462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974177" y="1554480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019" y="166420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974177" y="2176272"/>
            <a:ext cx="170316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Checker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2974177" y="2724912"/>
            <a:ext cx="493776" cy="27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2974177" y="2871216"/>
            <a:ext cx="17031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AI scoring out of 100 marks.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043099" y="1335024"/>
            <a:ext cx="2105497" cy="2249424"/>
          </a:xfrm>
          <a:prstGeom prst="roundRect">
            <a:avLst>
              <a:gd name="adj" fmla="val 30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244267" y="1554480"/>
            <a:ext cx="512064" cy="475488"/>
          </a:xfrm>
          <a:prstGeom prst="roundRect">
            <a:avLst>
              <a:gd name="adj" fmla="val 1346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244267" y="1554480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108" y="1664208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244267" y="2176272"/>
            <a:ext cx="170316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Check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5244267" y="2724912"/>
            <a:ext cx="493776" cy="27432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5244267" y="2871216"/>
            <a:ext cx="17031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source-code and report similarity.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7313188" y="1335024"/>
            <a:ext cx="2105497" cy="2249424"/>
          </a:xfrm>
          <a:prstGeom prst="roundRect">
            <a:avLst>
              <a:gd name="adj" fmla="val 30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514356" y="1554480"/>
            <a:ext cx="512064" cy="475488"/>
          </a:xfrm>
          <a:prstGeom prst="roundRect">
            <a:avLst>
              <a:gd name="adj" fmla="val 1346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7514356" y="1554480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3198" y="1664208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514356" y="2176272"/>
            <a:ext cx="170316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Submission</a:t>
            </a:r>
            <a:endParaRPr lang="en-US" sz="1350" dirty="0"/>
          </a:p>
        </p:txBody>
      </p:sp>
      <p:sp>
        <p:nvSpPr>
          <p:cNvPr id="32" name="Shape 25"/>
          <p:cNvSpPr/>
          <p:nvPr/>
        </p:nvSpPr>
        <p:spPr>
          <a:xfrm>
            <a:off x="7514356" y="2724912"/>
            <a:ext cx="493776" cy="27432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7514356" y="2871216"/>
            <a:ext cx="17031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Individual and Team submissions.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9583278" y="1335024"/>
            <a:ext cx="2105497" cy="2249424"/>
          </a:xfrm>
          <a:prstGeom prst="roundRect">
            <a:avLst>
              <a:gd name="adj" fmla="val 30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9784446" y="1554480"/>
            <a:ext cx="512064" cy="475488"/>
          </a:xfrm>
          <a:prstGeom prst="roundRect">
            <a:avLst>
              <a:gd name="adj" fmla="val 1346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9784446" y="1554480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13287" y="1664208"/>
            <a:ext cx="256032" cy="256032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9784446" y="2176272"/>
            <a:ext cx="170316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Management</a:t>
            </a:r>
            <a:endParaRPr lang="en-US" sz="1350" dirty="0"/>
          </a:p>
        </p:txBody>
      </p:sp>
      <p:sp>
        <p:nvSpPr>
          <p:cNvPr id="39" name="Shape 31"/>
          <p:cNvSpPr/>
          <p:nvPr/>
        </p:nvSpPr>
        <p:spPr>
          <a:xfrm>
            <a:off x="9784446" y="2724912"/>
            <a:ext cx="493776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0" name="Text 32"/>
          <p:cNvSpPr txBox="1"/>
          <p:nvPr/>
        </p:nvSpPr>
        <p:spPr>
          <a:xfrm>
            <a:off x="9784446" y="2871216"/>
            <a:ext cx="17031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teams across classrooms and events.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502920" y="3749040"/>
            <a:ext cx="2105497" cy="2249424"/>
          </a:xfrm>
          <a:prstGeom prst="roundRect">
            <a:avLst>
              <a:gd name="adj" fmla="val 30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704088" y="3968496"/>
            <a:ext cx="512064" cy="475488"/>
          </a:xfrm>
          <a:prstGeom prst="roundRect">
            <a:avLst>
              <a:gd name="adj" fmla="val 1346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704088" y="3968496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2929" y="4078224"/>
            <a:ext cx="256032" cy="256032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704088" y="4590288"/>
            <a:ext cx="170316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Classrooms</a:t>
            </a:r>
            <a:endParaRPr lang="en-US" sz="1350" dirty="0"/>
          </a:p>
        </p:txBody>
      </p:sp>
      <p:sp>
        <p:nvSpPr>
          <p:cNvPr id="46" name="Shape 37"/>
          <p:cNvSpPr/>
          <p:nvPr/>
        </p:nvSpPr>
        <p:spPr>
          <a:xfrm>
            <a:off x="704088" y="5138928"/>
            <a:ext cx="493776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7" name="Text 38"/>
          <p:cNvSpPr txBox="1"/>
          <p:nvPr/>
        </p:nvSpPr>
        <p:spPr>
          <a:xfrm>
            <a:off x="704088" y="5285232"/>
            <a:ext cx="17031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classrooms with custom requirements.</a:t>
            </a:r>
            <a:endParaRPr lang="en-US" sz="1000" dirty="0"/>
          </a:p>
        </p:txBody>
      </p:sp>
      <p:sp>
        <p:nvSpPr>
          <p:cNvPr id="48" name="Shape 39"/>
          <p:cNvSpPr/>
          <p:nvPr/>
        </p:nvSpPr>
        <p:spPr>
          <a:xfrm>
            <a:off x="2773009" y="3749040"/>
            <a:ext cx="2105497" cy="2249424"/>
          </a:xfrm>
          <a:prstGeom prst="roundRect">
            <a:avLst>
              <a:gd name="adj" fmla="val 30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2974177" y="3968496"/>
            <a:ext cx="512064" cy="475488"/>
          </a:xfrm>
          <a:prstGeom prst="roundRect">
            <a:avLst>
              <a:gd name="adj" fmla="val 13462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0" name="Text 41"/>
          <p:cNvSpPr txBox="1"/>
          <p:nvPr/>
        </p:nvSpPr>
        <p:spPr>
          <a:xfrm>
            <a:off x="2974177" y="3968496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3019" y="4078224"/>
            <a:ext cx="256032" cy="256032"/>
          </a:xfrm>
          <a:prstGeom prst="rect">
            <a:avLst/>
          </a:prstGeom>
        </p:spPr>
      </p:pic>
      <p:sp>
        <p:nvSpPr>
          <p:cNvPr id="52" name="Text 42"/>
          <p:cNvSpPr txBox="1"/>
          <p:nvPr/>
        </p:nvSpPr>
        <p:spPr>
          <a:xfrm>
            <a:off x="2974177" y="4590288"/>
            <a:ext cx="170316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Scoring</a:t>
            </a:r>
            <a:endParaRPr lang="en-US" sz="1350" dirty="0"/>
          </a:p>
        </p:txBody>
      </p:sp>
      <p:sp>
        <p:nvSpPr>
          <p:cNvPr id="53" name="Shape 43"/>
          <p:cNvSpPr/>
          <p:nvPr/>
        </p:nvSpPr>
        <p:spPr>
          <a:xfrm>
            <a:off x="2974177" y="5138928"/>
            <a:ext cx="493776" cy="2743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4" name="Text 44"/>
          <p:cNvSpPr txBox="1"/>
          <p:nvPr/>
        </p:nvSpPr>
        <p:spPr>
          <a:xfrm>
            <a:off x="2974177" y="5285232"/>
            <a:ext cx="17031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/50 + PPT &amp; Demo /25 + Viva /25.</a:t>
            </a:r>
            <a:endParaRPr lang="en-US" sz="1000" dirty="0"/>
          </a:p>
        </p:txBody>
      </p:sp>
      <p:sp>
        <p:nvSpPr>
          <p:cNvPr id="55" name="Shape 45"/>
          <p:cNvSpPr/>
          <p:nvPr/>
        </p:nvSpPr>
        <p:spPr>
          <a:xfrm>
            <a:off x="5043099" y="3749040"/>
            <a:ext cx="2105497" cy="2249424"/>
          </a:xfrm>
          <a:prstGeom prst="roundRect">
            <a:avLst>
              <a:gd name="adj" fmla="val 30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56" name="Shape 46"/>
          <p:cNvSpPr/>
          <p:nvPr/>
        </p:nvSpPr>
        <p:spPr>
          <a:xfrm>
            <a:off x="5244267" y="3968496"/>
            <a:ext cx="512064" cy="475488"/>
          </a:xfrm>
          <a:prstGeom prst="roundRect">
            <a:avLst>
              <a:gd name="adj" fmla="val 13462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7" name="Text 47"/>
          <p:cNvSpPr txBox="1"/>
          <p:nvPr/>
        </p:nvSpPr>
        <p:spPr>
          <a:xfrm>
            <a:off x="5244267" y="3968496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pic>
        <p:nvPicPr>
          <p:cNvPr id="5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3108" y="4078224"/>
            <a:ext cx="256032" cy="256032"/>
          </a:xfrm>
          <a:prstGeom prst="rect">
            <a:avLst/>
          </a:prstGeom>
        </p:spPr>
      </p:pic>
      <p:sp>
        <p:nvSpPr>
          <p:cNvPr id="59" name="Text 48"/>
          <p:cNvSpPr txBox="1"/>
          <p:nvPr/>
        </p:nvSpPr>
        <p:spPr>
          <a:xfrm>
            <a:off x="5244267" y="4590288"/>
            <a:ext cx="170316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Evaluator</a:t>
            </a:r>
            <a:endParaRPr lang="en-US" sz="1350" dirty="0"/>
          </a:p>
        </p:txBody>
      </p:sp>
      <p:sp>
        <p:nvSpPr>
          <p:cNvPr id="60" name="Shape 49"/>
          <p:cNvSpPr/>
          <p:nvPr/>
        </p:nvSpPr>
        <p:spPr>
          <a:xfrm>
            <a:off x="5244267" y="5138928"/>
            <a:ext cx="493776" cy="2743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61" name="Text 50"/>
          <p:cNvSpPr txBox="1"/>
          <p:nvPr/>
        </p:nvSpPr>
        <p:spPr>
          <a:xfrm>
            <a:off x="5244267" y="5285232"/>
            <a:ext cx="17031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Faculty/Coordinator or Classroom Owner evaluates.</a:t>
            </a:r>
            <a:endParaRPr lang="en-US" sz="1000" dirty="0"/>
          </a:p>
        </p:txBody>
      </p:sp>
      <p:sp>
        <p:nvSpPr>
          <p:cNvPr id="62" name="Shape 51"/>
          <p:cNvSpPr/>
          <p:nvPr/>
        </p:nvSpPr>
        <p:spPr>
          <a:xfrm>
            <a:off x="7313188" y="3749040"/>
            <a:ext cx="2105497" cy="2249424"/>
          </a:xfrm>
          <a:prstGeom prst="roundRect">
            <a:avLst>
              <a:gd name="adj" fmla="val 30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63" name="Shape 52"/>
          <p:cNvSpPr/>
          <p:nvPr/>
        </p:nvSpPr>
        <p:spPr>
          <a:xfrm>
            <a:off x="7514356" y="3968496"/>
            <a:ext cx="512064" cy="475488"/>
          </a:xfrm>
          <a:prstGeom prst="roundRect">
            <a:avLst>
              <a:gd name="adj" fmla="val 1346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4" name="Text 53"/>
          <p:cNvSpPr txBox="1"/>
          <p:nvPr/>
        </p:nvSpPr>
        <p:spPr>
          <a:xfrm>
            <a:off x="7514356" y="3968496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pic>
        <p:nvPicPr>
          <p:cNvPr id="6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43198" y="4078224"/>
            <a:ext cx="256032" cy="256032"/>
          </a:xfrm>
          <a:prstGeom prst="rect">
            <a:avLst/>
          </a:prstGeom>
        </p:spPr>
      </p:pic>
      <p:sp>
        <p:nvSpPr>
          <p:cNvPr id="66" name="Text 54"/>
          <p:cNvSpPr txBox="1"/>
          <p:nvPr/>
        </p:nvSpPr>
        <p:spPr>
          <a:xfrm>
            <a:off x="7514356" y="4590288"/>
            <a:ext cx="170316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Results</a:t>
            </a:r>
            <a:endParaRPr lang="en-US" sz="1350" dirty="0"/>
          </a:p>
        </p:txBody>
      </p:sp>
      <p:sp>
        <p:nvSpPr>
          <p:cNvPr id="67" name="Shape 55"/>
          <p:cNvSpPr/>
          <p:nvPr/>
        </p:nvSpPr>
        <p:spPr>
          <a:xfrm>
            <a:off x="7514356" y="5138928"/>
            <a:ext cx="493776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8" name="Text 56"/>
          <p:cNvSpPr txBox="1"/>
          <p:nvPr/>
        </p:nvSpPr>
        <p:spPr>
          <a:xfrm>
            <a:off x="7514356" y="5285232"/>
            <a:ext cx="17031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before transparent results and leaderboard.</a:t>
            </a:r>
            <a:endParaRPr lang="en-US" sz="1000" dirty="0"/>
          </a:p>
        </p:txBody>
      </p:sp>
      <p:sp>
        <p:nvSpPr>
          <p:cNvPr id="69" name="Shape 57"/>
          <p:cNvSpPr/>
          <p:nvPr/>
        </p:nvSpPr>
        <p:spPr>
          <a:xfrm>
            <a:off x="9583278" y="3749040"/>
            <a:ext cx="2105497" cy="2249424"/>
          </a:xfrm>
          <a:prstGeom prst="roundRect">
            <a:avLst>
              <a:gd name="adj" fmla="val 30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70" name="Shape 58"/>
          <p:cNvSpPr/>
          <p:nvPr/>
        </p:nvSpPr>
        <p:spPr>
          <a:xfrm>
            <a:off x="9784446" y="3968496"/>
            <a:ext cx="512064" cy="475488"/>
          </a:xfrm>
          <a:prstGeom prst="roundRect">
            <a:avLst>
              <a:gd name="adj" fmla="val 1346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1" name="Text 59"/>
          <p:cNvSpPr txBox="1"/>
          <p:nvPr/>
        </p:nvSpPr>
        <p:spPr>
          <a:xfrm>
            <a:off x="9784446" y="3968496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pic>
        <p:nvPicPr>
          <p:cNvPr id="7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13287" y="4078224"/>
            <a:ext cx="256032" cy="256032"/>
          </a:xfrm>
          <a:prstGeom prst="rect">
            <a:avLst/>
          </a:prstGeom>
        </p:spPr>
      </p:pic>
      <p:sp>
        <p:nvSpPr>
          <p:cNvPr id="73" name="Text 60"/>
          <p:cNvSpPr txBox="1"/>
          <p:nvPr/>
        </p:nvSpPr>
        <p:spPr>
          <a:xfrm>
            <a:off x="9784446" y="4590288"/>
            <a:ext cx="170316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Plan</a:t>
            </a:r>
            <a:endParaRPr lang="en-US" sz="1350" dirty="0"/>
          </a:p>
        </p:txBody>
      </p:sp>
      <p:sp>
        <p:nvSpPr>
          <p:cNvPr id="74" name="Shape 61"/>
          <p:cNvSpPr/>
          <p:nvPr/>
        </p:nvSpPr>
        <p:spPr>
          <a:xfrm>
            <a:off x="9784446" y="5138928"/>
            <a:ext cx="493776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5" name="Text 62"/>
          <p:cNvSpPr txBox="1"/>
          <p:nvPr/>
        </p:nvSpPr>
        <p:spPr>
          <a:xfrm>
            <a:off x="9784446" y="5285232"/>
            <a:ext cx="17031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actionable improvement guidance.</a:t>
            </a:r>
            <a:endParaRPr lang="en-US" sz="1000" dirty="0"/>
          </a:p>
        </p:txBody>
      </p:sp>
      <p:sp>
        <p:nvSpPr>
          <p:cNvPr id="76" name="Shape 63"/>
          <p:cNvSpPr/>
          <p:nvPr/>
        </p:nvSpPr>
        <p:spPr>
          <a:xfrm>
            <a:off x="502920" y="6053328"/>
            <a:ext cx="11185855" cy="365760"/>
          </a:xfrm>
          <a:prstGeom prst="roundRect">
            <a:avLst>
              <a:gd name="adj" fmla="val 175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77" name="Text 64"/>
          <p:cNvSpPr txBox="1"/>
          <p:nvPr/>
        </p:nvSpPr>
        <p:spPr>
          <a:xfrm>
            <a:off x="1161288" y="6053328"/>
            <a:ext cx="10271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ten objectives operate on a single permanent User ID — Project Checker AI /100 stays independent of Classroom AI /50.</a:t>
            </a:r>
            <a:endParaRPr lang="en-US" sz="1100" dirty="0"/>
          </a:p>
        </p:txBody>
      </p:sp>
      <p:pic>
        <p:nvPicPr>
          <p:cNvPr id="7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8952" y="6144768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38328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9848" y="365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1042416" y="566928"/>
            <a:ext cx="10515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Integrated Provalix AI Modules</a:t>
            </a:r>
            <a:endParaRPr lang="en-US" sz="2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25296"/>
            <a:ext cx="11185855" cy="566928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344168"/>
            <a:ext cx="329184" cy="329184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161288" y="122529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PROVALIX AI</a:t>
            </a:r>
            <a:endParaRPr lang="en-US" sz="1600" dirty="0"/>
          </a:p>
        </p:txBody>
      </p:sp>
      <p:sp>
        <p:nvSpPr>
          <p:cNvPr id="8" name="Text 3"/>
          <p:cNvSpPr txBox="1"/>
          <p:nvPr/>
        </p:nvSpPr>
        <p:spPr>
          <a:xfrm>
            <a:off x="3794760" y="1225296"/>
            <a:ext cx="76196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CE3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permanent User ID  ·  one reusable team system  ·  one evaluation platform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1825714" y="1792224"/>
            <a:ext cx="0" cy="274320"/>
          </a:xfrm>
          <a:prstGeom prst="line">
            <a:avLst/>
          </a:prstGeom>
          <a:noFill/>
          <a:ln w="15875">
            <a:solidFill>
              <a:srgbClr val="C7D2FE"/>
            </a:solidFill>
            <a:prstDash val="solid"/>
            <a:tailEnd type="triangle"/>
          </a:ln>
        </p:spPr>
      </p:sp>
      <p:sp>
        <p:nvSpPr>
          <p:cNvPr id="10" name="Shape 5"/>
          <p:cNvSpPr/>
          <p:nvPr/>
        </p:nvSpPr>
        <p:spPr>
          <a:xfrm>
            <a:off x="502920" y="2103120"/>
            <a:ext cx="2645588" cy="3840480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704088" y="2322576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2404872"/>
            <a:ext cx="256032" cy="25603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34440" y="235915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850" dirty="0"/>
          </a:p>
        </p:txBody>
      </p:sp>
      <p:sp>
        <p:nvSpPr>
          <p:cNvPr id="14" name="Text 8"/>
          <p:cNvSpPr txBox="1"/>
          <p:nvPr/>
        </p:nvSpPr>
        <p:spPr>
          <a:xfrm>
            <a:off x="1234440" y="2523744"/>
            <a:ext cx="17311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CHECKER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704088" y="2907792"/>
            <a:ext cx="2243252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0"/>
          <p:cNvSpPr/>
          <p:nvPr/>
        </p:nvSpPr>
        <p:spPr>
          <a:xfrm>
            <a:off x="704088" y="3017520"/>
            <a:ext cx="2243252" cy="329184"/>
          </a:xfrm>
          <a:prstGeom prst="roundRect">
            <a:avLst>
              <a:gd name="adj" fmla="val 19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850392" y="3150108"/>
            <a:ext cx="64008" cy="6400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1014984" y="3017520"/>
            <a:ext cx="19323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704088" y="3419856"/>
            <a:ext cx="2243252" cy="329184"/>
          </a:xfrm>
          <a:prstGeom prst="roundRect">
            <a:avLst>
              <a:gd name="adj" fmla="val 19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50392" y="3552444"/>
            <a:ext cx="64008" cy="6400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1014984" y="3419856"/>
            <a:ext cx="19323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Upload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04088" y="3822192"/>
            <a:ext cx="2243252" cy="329184"/>
          </a:xfrm>
          <a:prstGeom prst="roundRect">
            <a:avLst>
              <a:gd name="adj" fmla="val 19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850392" y="3954780"/>
            <a:ext cx="64008" cy="6400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1014984" y="3822192"/>
            <a:ext cx="19323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Check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704088" y="4224528"/>
            <a:ext cx="2243252" cy="329184"/>
          </a:xfrm>
          <a:prstGeom prst="roundRect">
            <a:avLst>
              <a:gd name="adj" fmla="val 19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50392" y="4357116"/>
            <a:ext cx="64008" cy="6400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1014984" y="4224528"/>
            <a:ext cx="19323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Evaluation /100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704088" y="4626864"/>
            <a:ext cx="2243252" cy="329184"/>
          </a:xfrm>
          <a:prstGeom prst="roundRect">
            <a:avLst>
              <a:gd name="adj" fmla="val 19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50392" y="4759452"/>
            <a:ext cx="64008" cy="6400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1014984" y="4626864"/>
            <a:ext cx="19323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704088" y="5486400"/>
            <a:ext cx="2243252" cy="347472"/>
          </a:xfrm>
          <a:prstGeom prst="roundRect">
            <a:avLst>
              <a:gd name="adj" fmla="val 18421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704088" y="5486400"/>
            <a:ext cx="22432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· AI /100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4672470" y="1792224"/>
            <a:ext cx="0" cy="274320"/>
          </a:xfrm>
          <a:prstGeom prst="line">
            <a:avLst/>
          </a:prstGeom>
          <a:noFill/>
          <a:ln w="15875">
            <a:solidFill>
              <a:srgbClr val="C7D2FE"/>
            </a:solidFill>
            <a:prstDash val="solid"/>
            <a:tailEnd type="triangle"/>
          </a:ln>
        </p:spPr>
      </p:sp>
      <p:sp>
        <p:nvSpPr>
          <p:cNvPr id="34" name="Shape 28"/>
          <p:cNvSpPr/>
          <p:nvPr/>
        </p:nvSpPr>
        <p:spPr>
          <a:xfrm>
            <a:off x="3349676" y="2103120"/>
            <a:ext cx="2645588" cy="3840480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3550844" y="2322576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3140" y="2404872"/>
            <a:ext cx="256032" cy="256032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4081196" y="235915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850" dirty="0"/>
          </a:p>
        </p:txBody>
      </p:sp>
      <p:sp>
        <p:nvSpPr>
          <p:cNvPr id="38" name="Text 31"/>
          <p:cNvSpPr txBox="1"/>
          <p:nvPr/>
        </p:nvSpPr>
        <p:spPr>
          <a:xfrm>
            <a:off x="4081196" y="2523744"/>
            <a:ext cx="17311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MANAGEMENT</a:t>
            </a:r>
            <a:endParaRPr lang="en-US" sz="1150" dirty="0"/>
          </a:p>
        </p:txBody>
      </p:sp>
      <p:sp>
        <p:nvSpPr>
          <p:cNvPr id="39" name="Shape 32"/>
          <p:cNvSpPr/>
          <p:nvPr/>
        </p:nvSpPr>
        <p:spPr>
          <a:xfrm>
            <a:off x="3550844" y="2907792"/>
            <a:ext cx="2243252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Shape 33"/>
          <p:cNvSpPr/>
          <p:nvPr/>
        </p:nvSpPr>
        <p:spPr>
          <a:xfrm>
            <a:off x="3550844" y="3017520"/>
            <a:ext cx="2243252" cy="329184"/>
          </a:xfrm>
          <a:prstGeom prst="roundRect">
            <a:avLst>
              <a:gd name="adj" fmla="val 19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3697148" y="3150108"/>
            <a:ext cx="64008" cy="64008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3861740" y="3017520"/>
            <a:ext cx="19323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Team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3550844" y="3419856"/>
            <a:ext cx="2243252" cy="329184"/>
          </a:xfrm>
          <a:prstGeom prst="roundRect">
            <a:avLst>
              <a:gd name="adj" fmla="val 19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3697148" y="3552444"/>
            <a:ext cx="64008" cy="64008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3861740" y="3419856"/>
            <a:ext cx="19323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Team Code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3550844" y="3822192"/>
            <a:ext cx="2243252" cy="329184"/>
          </a:xfrm>
          <a:prstGeom prst="roundRect">
            <a:avLst>
              <a:gd name="adj" fmla="val 19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3697148" y="3954780"/>
            <a:ext cx="64008" cy="64008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3861740" y="3822192"/>
            <a:ext cx="19323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ID Invitations</a:t>
            </a:r>
            <a:endParaRPr lang="en-US" sz="1000" dirty="0"/>
          </a:p>
        </p:txBody>
      </p:sp>
      <p:sp>
        <p:nvSpPr>
          <p:cNvPr id="49" name="Shape 42"/>
          <p:cNvSpPr/>
          <p:nvPr/>
        </p:nvSpPr>
        <p:spPr>
          <a:xfrm>
            <a:off x="3550844" y="4224528"/>
            <a:ext cx="2243252" cy="329184"/>
          </a:xfrm>
          <a:prstGeom prst="roundRect">
            <a:avLst>
              <a:gd name="adj" fmla="val 19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3697148" y="4357116"/>
            <a:ext cx="64008" cy="64008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3861740" y="4224528"/>
            <a:ext cx="19323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 / Member Management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3550844" y="4626864"/>
            <a:ext cx="2243252" cy="329184"/>
          </a:xfrm>
          <a:prstGeom prst="roundRect">
            <a:avLst>
              <a:gd name="adj" fmla="val 19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3697148" y="4759452"/>
            <a:ext cx="64008" cy="64008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54" name="Text 47"/>
          <p:cNvSpPr txBox="1"/>
          <p:nvPr/>
        </p:nvSpPr>
        <p:spPr>
          <a:xfrm>
            <a:off x="3861740" y="4626864"/>
            <a:ext cx="19323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Teams</a:t>
            </a:r>
            <a:endParaRPr lang="en-US" sz="1000" dirty="0"/>
          </a:p>
        </p:txBody>
      </p:sp>
      <p:sp>
        <p:nvSpPr>
          <p:cNvPr id="55" name="Shape 48"/>
          <p:cNvSpPr/>
          <p:nvPr/>
        </p:nvSpPr>
        <p:spPr>
          <a:xfrm>
            <a:off x="3550844" y="5486400"/>
            <a:ext cx="2243252" cy="347472"/>
          </a:xfrm>
          <a:prstGeom prst="roundRect">
            <a:avLst>
              <a:gd name="adj" fmla="val 18421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6" name="Text 49"/>
          <p:cNvSpPr txBox="1"/>
          <p:nvPr/>
        </p:nvSpPr>
        <p:spPr>
          <a:xfrm>
            <a:off x="3550844" y="5486400"/>
            <a:ext cx="22432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across classrooms</a:t>
            </a:r>
            <a:endParaRPr lang="en-US" sz="900" dirty="0"/>
          </a:p>
        </p:txBody>
      </p:sp>
      <p:sp>
        <p:nvSpPr>
          <p:cNvPr id="57" name="Shape 50"/>
          <p:cNvSpPr/>
          <p:nvPr/>
        </p:nvSpPr>
        <p:spPr>
          <a:xfrm>
            <a:off x="7519226" y="1792224"/>
            <a:ext cx="0" cy="274320"/>
          </a:xfrm>
          <a:prstGeom prst="line">
            <a:avLst/>
          </a:prstGeom>
          <a:noFill/>
          <a:ln w="15875">
            <a:solidFill>
              <a:srgbClr val="C7D2FE"/>
            </a:solidFill>
            <a:prstDash val="solid"/>
            <a:tailEnd type="triangle"/>
          </a:ln>
        </p:spPr>
      </p:sp>
      <p:sp>
        <p:nvSpPr>
          <p:cNvPr id="58" name="Shape 51"/>
          <p:cNvSpPr/>
          <p:nvPr/>
        </p:nvSpPr>
        <p:spPr>
          <a:xfrm>
            <a:off x="6196432" y="2103120"/>
            <a:ext cx="2645588" cy="3840480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59" name="Shape 52"/>
          <p:cNvSpPr/>
          <p:nvPr/>
        </p:nvSpPr>
        <p:spPr>
          <a:xfrm>
            <a:off x="6397600" y="2322576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pic>
        <p:nvPicPr>
          <p:cNvPr id="6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9896" y="2404872"/>
            <a:ext cx="256032" cy="256032"/>
          </a:xfrm>
          <a:prstGeom prst="rect">
            <a:avLst/>
          </a:prstGeom>
        </p:spPr>
      </p:pic>
      <p:sp>
        <p:nvSpPr>
          <p:cNvPr id="61" name="Text 53"/>
          <p:cNvSpPr txBox="1"/>
          <p:nvPr/>
        </p:nvSpPr>
        <p:spPr>
          <a:xfrm>
            <a:off x="6927952" y="235915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850" dirty="0"/>
          </a:p>
        </p:txBody>
      </p:sp>
      <p:sp>
        <p:nvSpPr>
          <p:cNvPr id="62" name="Text 54"/>
          <p:cNvSpPr txBox="1"/>
          <p:nvPr/>
        </p:nvSpPr>
        <p:spPr>
          <a:xfrm>
            <a:off x="6927952" y="2523744"/>
            <a:ext cx="17311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</a:t>
            </a:r>
            <a:endParaRPr lang="en-US" sz="1150" dirty="0"/>
          </a:p>
        </p:txBody>
      </p:sp>
      <p:sp>
        <p:nvSpPr>
          <p:cNvPr id="63" name="Shape 55"/>
          <p:cNvSpPr/>
          <p:nvPr/>
        </p:nvSpPr>
        <p:spPr>
          <a:xfrm>
            <a:off x="6397600" y="2907792"/>
            <a:ext cx="2243252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4" name="Shape 56"/>
          <p:cNvSpPr/>
          <p:nvPr/>
        </p:nvSpPr>
        <p:spPr>
          <a:xfrm>
            <a:off x="6397600" y="3017520"/>
            <a:ext cx="2243252" cy="329184"/>
          </a:xfrm>
          <a:prstGeom prst="roundRect">
            <a:avLst>
              <a:gd name="adj" fmla="val 19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Shape 57"/>
          <p:cNvSpPr/>
          <p:nvPr/>
        </p:nvSpPr>
        <p:spPr>
          <a:xfrm>
            <a:off x="6543904" y="3150108"/>
            <a:ext cx="64008" cy="640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6" name="Text 58"/>
          <p:cNvSpPr txBox="1"/>
          <p:nvPr/>
        </p:nvSpPr>
        <p:spPr>
          <a:xfrm>
            <a:off x="6708496" y="3017520"/>
            <a:ext cx="19323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Creation</a:t>
            </a:r>
            <a:endParaRPr lang="en-US" sz="1000" dirty="0"/>
          </a:p>
        </p:txBody>
      </p:sp>
      <p:sp>
        <p:nvSpPr>
          <p:cNvPr id="67" name="Shape 59"/>
          <p:cNvSpPr/>
          <p:nvPr/>
        </p:nvSpPr>
        <p:spPr>
          <a:xfrm>
            <a:off x="6397600" y="3419856"/>
            <a:ext cx="2243252" cy="329184"/>
          </a:xfrm>
          <a:prstGeom prst="roundRect">
            <a:avLst>
              <a:gd name="adj" fmla="val 19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Shape 60"/>
          <p:cNvSpPr/>
          <p:nvPr/>
        </p:nvSpPr>
        <p:spPr>
          <a:xfrm>
            <a:off x="6543904" y="3552444"/>
            <a:ext cx="64008" cy="640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9" name="Text 61"/>
          <p:cNvSpPr txBox="1"/>
          <p:nvPr/>
        </p:nvSpPr>
        <p:spPr>
          <a:xfrm>
            <a:off x="6708496" y="3419856"/>
            <a:ext cx="19323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/ Team Mode</a:t>
            </a:r>
            <a:endParaRPr lang="en-US" sz="1000" dirty="0"/>
          </a:p>
        </p:txBody>
      </p:sp>
      <p:sp>
        <p:nvSpPr>
          <p:cNvPr id="70" name="Shape 62"/>
          <p:cNvSpPr/>
          <p:nvPr/>
        </p:nvSpPr>
        <p:spPr>
          <a:xfrm>
            <a:off x="6397600" y="3822192"/>
            <a:ext cx="2243252" cy="329184"/>
          </a:xfrm>
          <a:prstGeom prst="roundRect">
            <a:avLst>
              <a:gd name="adj" fmla="val 19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Shape 63"/>
          <p:cNvSpPr/>
          <p:nvPr/>
        </p:nvSpPr>
        <p:spPr>
          <a:xfrm>
            <a:off x="6543904" y="3954780"/>
            <a:ext cx="64008" cy="640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2" name="Text 64"/>
          <p:cNvSpPr txBox="1"/>
          <p:nvPr/>
        </p:nvSpPr>
        <p:spPr>
          <a:xfrm>
            <a:off x="6708496" y="3822192"/>
            <a:ext cx="19323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Requirements</a:t>
            </a:r>
            <a:endParaRPr lang="en-US" sz="1000" dirty="0"/>
          </a:p>
        </p:txBody>
      </p:sp>
      <p:sp>
        <p:nvSpPr>
          <p:cNvPr id="73" name="Shape 65"/>
          <p:cNvSpPr/>
          <p:nvPr/>
        </p:nvSpPr>
        <p:spPr>
          <a:xfrm>
            <a:off x="6397600" y="4224528"/>
            <a:ext cx="2243252" cy="329184"/>
          </a:xfrm>
          <a:prstGeom prst="roundRect">
            <a:avLst>
              <a:gd name="adj" fmla="val 19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Shape 66"/>
          <p:cNvSpPr/>
          <p:nvPr/>
        </p:nvSpPr>
        <p:spPr>
          <a:xfrm>
            <a:off x="6543904" y="4357116"/>
            <a:ext cx="64008" cy="640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5" name="Text 67"/>
          <p:cNvSpPr txBox="1"/>
          <p:nvPr/>
        </p:nvSpPr>
        <p:spPr>
          <a:xfrm>
            <a:off x="6708496" y="4224528"/>
            <a:ext cx="19323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Team Invitations</a:t>
            </a:r>
            <a:endParaRPr lang="en-US" sz="1000" dirty="0"/>
          </a:p>
        </p:txBody>
      </p:sp>
      <p:sp>
        <p:nvSpPr>
          <p:cNvPr id="76" name="Shape 68"/>
          <p:cNvSpPr/>
          <p:nvPr/>
        </p:nvSpPr>
        <p:spPr>
          <a:xfrm>
            <a:off x="6397600" y="4626864"/>
            <a:ext cx="2243252" cy="329184"/>
          </a:xfrm>
          <a:prstGeom prst="roundRect">
            <a:avLst>
              <a:gd name="adj" fmla="val 19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Shape 69"/>
          <p:cNvSpPr/>
          <p:nvPr/>
        </p:nvSpPr>
        <p:spPr>
          <a:xfrm>
            <a:off x="6543904" y="4759452"/>
            <a:ext cx="64008" cy="640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8" name="Text 70"/>
          <p:cNvSpPr txBox="1"/>
          <p:nvPr/>
        </p:nvSpPr>
        <p:spPr>
          <a:xfrm>
            <a:off x="6708496" y="4626864"/>
            <a:ext cx="19323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Assignment</a:t>
            </a:r>
            <a:endParaRPr lang="en-US" sz="1000" dirty="0"/>
          </a:p>
        </p:txBody>
      </p:sp>
      <p:sp>
        <p:nvSpPr>
          <p:cNvPr id="79" name="Shape 71"/>
          <p:cNvSpPr/>
          <p:nvPr/>
        </p:nvSpPr>
        <p:spPr>
          <a:xfrm>
            <a:off x="6397600" y="5486400"/>
            <a:ext cx="2243252" cy="347472"/>
          </a:xfrm>
          <a:prstGeom prst="roundRect">
            <a:avLst>
              <a:gd name="adj" fmla="val 18421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80" name="Text 72"/>
          <p:cNvSpPr txBox="1"/>
          <p:nvPr/>
        </p:nvSpPr>
        <p:spPr>
          <a:xfrm>
            <a:off x="6397600" y="5486400"/>
            <a:ext cx="22432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per classroom</a:t>
            </a:r>
            <a:endParaRPr lang="en-US" sz="900" dirty="0"/>
          </a:p>
        </p:txBody>
      </p:sp>
      <p:sp>
        <p:nvSpPr>
          <p:cNvPr id="81" name="Shape 73"/>
          <p:cNvSpPr/>
          <p:nvPr/>
        </p:nvSpPr>
        <p:spPr>
          <a:xfrm>
            <a:off x="10365981" y="1792224"/>
            <a:ext cx="0" cy="274320"/>
          </a:xfrm>
          <a:prstGeom prst="line">
            <a:avLst/>
          </a:prstGeom>
          <a:noFill/>
          <a:ln w="15875">
            <a:solidFill>
              <a:srgbClr val="C7D2FE"/>
            </a:solidFill>
            <a:prstDash val="solid"/>
            <a:tailEnd type="triangle"/>
          </a:ln>
        </p:spPr>
      </p:sp>
      <p:sp>
        <p:nvSpPr>
          <p:cNvPr id="82" name="Shape 74"/>
          <p:cNvSpPr/>
          <p:nvPr/>
        </p:nvSpPr>
        <p:spPr>
          <a:xfrm>
            <a:off x="9043187" y="2103120"/>
            <a:ext cx="2645588" cy="3840480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83" name="Shape 75"/>
          <p:cNvSpPr/>
          <p:nvPr/>
        </p:nvSpPr>
        <p:spPr>
          <a:xfrm>
            <a:off x="9244355" y="2322576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</p:sp>
      <p:pic>
        <p:nvPicPr>
          <p:cNvPr id="8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651" y="2404872"/>
            <a:ext cx="256032" cy="256032"/>
          </a:xfrm>
          <a:prstGeom prst="rect">
            <a:avLst/>
          </a:prstGeom>
        </p:spPr>
      </p:pic>
      <p:sp>
        <p:nvSpPr>
          <p:cNvPr id="85" name="Text 76"/>
          <p:cNvSpPr txBox="1"/>
          <p:nvPr/>
        </p:nvSpPr>
        <p:spPr>
          <a:xfrm>
            <a:off x="9774707" y="235915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850" dirty="0"/>
          </a:p>
        </p:txBody>
      </p:sp>
      <p:sp>
        <p:nvSpPr>
          <p:cNvPr id="86" name="Text 77"/>
          <p:cNvSpPr txBox="1"/>
          <p:nvPr/>
        </p:nvSpPr>
        <p:spPr>
          <a:xfrm>
            <a:off x="9774707" y="2523744"/>
            <a:ext cx="17311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RESULTS</a:t>
            </a:r>
            <a:endParaRPr lang="en-US" sz="1150" dirty="0"/>
          </a:p>
        </p:txBody>
      </p:sp>
      <p:sp>
        <p:nvSpPr>
          <p:cNvPr id="87" name="Shape 78"/>
          <p:cNvSpPr/>
          <p:nvPr/>
        </p:nvSpPr>
        <p:spPr>
          <a:xfrm>
            <a:off x="9244355" y="2907792"/>
            <a:ext cx="2243252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8" name="Shape 79"/>
          <p:cNvSpPr/>
          <p:nvPr/>
        </p:nvSpPr>
        <p:spPr>
          <a:xfrm>
            <a:off x="9244355" y="3017520"/>
            <a:ext cx="2243252" cy="329184"/>
          </a:xfrm>
          <a:prstGeom prst="roundRect">
            <a:avLst>
              <a:gd name="adj" fmla="val 19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Shape 80"/>
          <p:cNvSpPr/>
          <p:nvPr/>
        </p:nvSpPr>
        <p:spPr>
          <a:xfrm>
            <a:off x="9390659" y="3150108"/>
            <a:ext cx="64008" cy="640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0" name="Text 81"/>
          <p:cNvSpPr txBox="1"/>
          <p:nvPr/>
        </p:nvSpPr>
        <p:spPr>
          <a:xfrm>
            <a:off x="9555251" y="3017520"/>
            <a:ext cx="19323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/50</a:t>
            </a:r>
            <a:endParaRPr lang="en-US" sz="1000" dirty="0"/>
          </a:p>
        </p:txBody>
      </p:sp>
      <p:sp>
        <p:nvSpPr>
          <p:cNvPr id="91" name="Shape 82"/>
          <p:cNvSpPr/>
          <p:nvPr/>
        </p:nvSpPr>
        <p:spPr>
          <a:xfrm>
            <a:off x="9244355" y="3419856"/>
            <a:ext cx="2243252" cy="329184"/>
          </a:xfrm>
          <a:prstGeom prst="roundRect">
            <a:avLst>
              <a:gd name="adj" fmla="val 19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Shape 83"/>
          <p:cNvSpPr/>
          <p:nvPr/>
        </p:nvSpPr>
        <p:spPr>
          <a:xfrm>
            <a:off x="9390659" y="3552444"/>
            <a:ext cx="64008" cy="640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3" name="Text 84"/>
          <p:cNvSpPr txBox="1"/>
          <p:nvPr/>
        </p:nvSpPr>
        <p:spPr>
          <a:xfrm>
            <a:off x="9555251" y="3419856"/>
            <a:ext cx="19323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+ Demo /25</a:t>
            </a:r>
            <a:endParaRPr lang="en-US" sz="1000" dirty="0"/>
          </a:p>
        </p:txBody>
      </p:sp>
      <p:sp>
        <p:nvSpPr>
          <p:cNvPr id="94" name="Shape 85"/>
          <p:cNvSpPr/>
          <p:nvPr/>
        </p:nvSpPr>
        <p:spPr>
          <a:xfrm>
            <a:off x="9244355" y="3822192"/>
            <a:ext cx="2243252" cy="329184"/>
          </a:xfrm>
          <a:prstGeom prst="roundRect">
            <a:avLst>
              <a:gd name="adj" fmla="val 19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Shape 86"/>
          <p:cNvSpPr/>
          <p:nvPr/>
        </p:nvSpPr>
        <p:spPr>
          <a:xfrm>
            <a:off x="9390659" y="3954780"/>
            <a:ext cx="64008" cy="640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6" name="Text 87"/>
          <p:cNvSpPr txBox="1"/>
          <p:nvPr/>
        </p:nvSpPr>
        <p:spPr>
          <a:xfrm>
            <a:off x="9555251" y="3822192"/>
            <a:ext cx="19323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/25</a:t>
            </a:r>
            <a:endParaRPr lang="en-US" sz="1000" dirty="0"/>
          </a:p>
        </p:txBody>
      </p:sp>
      <p:sp>
        <p:nvSpPr>
          <p:cNvPr id="97" name="Shape 88"/>
          <p:cNvSpPr/>
          <p:nvPr/>
        </p:nvSpPr>
        <p:spPr>
          <a:xfrm>
            <a:off x="9244355" y="4224528"/>
            <a:ext cx="2243252" cy="329184"/>
          </a:xfrm>
          <a:prstGeom prst="roundRect">
            <a:avLst>
              <a:gd name="adj" fmla="val 19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8" name="Shape 89"/>
          <p:cNvSpPr/>
          <p:nvPr/>
        </p:nvSpPr>
        <p:spPr>
          <a:xfrm>
            <a:off x="9390659" y="4357116"/>
            <a:ext cx="64008" cy="640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9" name="Text 90"/>
          <p:cNvSpPr txBox="1"/>
          <p:nvPr/>
        </p:nvSpPr>
        <p:spPr>
          <a:xfrm>
            <a:off x="9555251" y="4224528"/>
            <a:ext cx="19323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00" dirty="0"/>
          </a:p>
        </p:txBody>
      </p:sp>
      <p:sp>
        <p:nvSpPr>
          <p:cNvPr id="100" name="Shape 91"/>
          <p:cNvSpPr/>
          <p:nvPr/>
        </p:nvSpPr>
        <p:spPr>
          <a:xfrm>
            <a:off x="9244355" y="4626864"/>
            <a:ext cx="2243252" cy="329184"/>
          </a:xfrm>
          <a:prstGeom prst="roundRect">
            <a:avLst>
              <a:gd name="adj" fmla="val 19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Shape 92"/>
          <p:cNvSpPr/>
          <p:nvPr/>
        </p:nvSpPr>
        <p:spPr>
          <a:xfrm>
            <a:off x="9390659" y="4759452"/>
            <a:ext cx="64008" cy="640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2" name="Text 93"/>
          <p:cNvSpPr txBox="1"/>
          <p:nvPr/>
        </p:nvSpPr>
        <p:spPr>
          <a:xfrm>
            <a:off x="9555251" y="4626864"/>
            <a:ext cx="19323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000" dirty="0"/>
          </a:p>
        </p:txBody>
      </p:sp>
      <p:sp>
        <p:nvSpPr>
          <p:cNvPr id="103" name="Shape 94"/>
          <p:cNvSpPr/>
          <p:nvPr/>
        </p:nvSpPr>
        <p:spPr>
          <a:xfrm>
            <a:off x="9244355" y="5029200"/>
            <a:ext cx="2243252" cy="329184"/>
          </a:xfrm>
          <a:prstGeom prst="roundRect">
            <a:avLst>
              <a:gd name="adj" fmla="val 19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4" name="Shape 95"/>
          <p:cNvSpPr/>
          <p:nvPr/>
        </p:nvSpPr>
        <p:spPr>
          <a:xfrm>
            <a:off x="9390659" y="5161788"/>
            <a:ext cx="64008" cy="640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5" name="Text 96"/>
          <p:cNvSpPr txBox="1"/>
          <p:nvPr/>
        </p:nvSpPr>
        <p:spPr>
          <a:xfrm>
            <a:off x="9555251" y="5029200"/>
            <a:ext cx="19323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Plan</a:t>
            </a:r>
            <a:endParaRPr lang="en-US" sz="1000" dirty="0"/>
          </a:p>
        </p:txBody>
      </p:sp>
      <p:sp>
        <p:nvSpPr>
          <p:cNvPr id="106" name="Shape 97"/>
          <p:cNvSpPr/>
          <p:nvPr/>
        </p:nvSpPr>
        <p:spPr>
          <a:xfrm>
            <a:off x="9244355" y="5486400"/>
            <a:ext cx="2243252" cy="347472"/>
          </a:xfrm>
          <a:prstGeom prst="roundRect">
            <a:avLst>
              <a:gd name="adj" fmla="val 18421"/>
            </a:avLst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</p:sp>
      <p:sp>
        <p:nvSpPr>
          <p:cNvPr id="107" name="Text 98"/>
          <p:cNvSpPr txBox="1"/>
          <p:nvPr/>
        </p:nvSpPr>
        <p:spPr>
          <a:xfrm>
            <a:off x="9244355" y="5486400"/>
            <a:ext cx="22432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score /100</a:t>
            </a:r>
            <a:endParaRPr lang="en-US" sz="900" dirty="0"/>
          </a:p>
        </p:txBody>
      </p:sp>
      <p:sp>
        <p:nvSpPr>
          <p:cNvPr id="108" name="Shape 99"/>
          <p:cNvSpPr/>
          <p:nvPr/>
        </p:nvSpPr>
        <p:spPr>
          <a:xfrm>
            <a:off x="502920" y="6071616"/>
            <a:ext cx="11185855" cy="347472"/>
          </a:xfrm>
          <a:prstGeom prst="roundRect">
            <a:avLst>
              <a:gd name="adj" fmla="val 18421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9" name="Text 100"/>
          <p:cNvSpPr txBox="1"/>
          <p:nvPr/>
        </p:nvSpPr>
        <p:spPr>
          <a:xfrm>
            <a:off x="1161288" y="6071616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 share one permanent User ID, one reusable team system and one evaluation platform. Project Checker remains independent from Classroom scoring.</a:t>
            </a:r>
            <a:endParaRPr lang="en-US" sz="1100" dirty="0"/>
          </a:p>
        </p:txBody>
      </p:sp>
      <p:pic>
        <p:nvPicPr>
          <p:cNvPr id="11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52" y="6144768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38328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9848" y="365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1042416" y="566928"/>
            <a:ext cx="10515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Provalix AI Workflow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188720"/>
            <a:ext cx="2331720" cy="256032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11887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 ·  PROJECT CHECKER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2920" y="1517904"/>
            <a:ext cx="2032345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509" y="1636776"/>
            <a:ext cx="201168" cy="2011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57784" y="1883664"/>
            <a:ext cx="19226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2562697" y="1920240"/>
            <a:ext cx="201168" cy="0"/>
          </a:xfrm>
          <a:prstGeom prst="line">
            <a:avLst/>
          </a:prstGeom>
          <a:noFill/>
          <a:ln w="15875">
            <a:solidFill>
              <a:srgbClr val="A5B4FC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2791297" y="1517904"/>
            <a:ext cx="2032345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6886" y="1636776"/>
            <a:ext cx="201168" cy="20116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846161" y="1883664"/>
            <a:ext cx="19226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Resources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4851075" y="1920240"/>
            <a:ext cx="201168" cy="0"/>
          </a:xfrm>
          <a:prstGeom prst="line">
            <a:avLst/>
          </a:prstGeom>
          <a:noFill/>
          <a:ln w="15875">
            <a:solidFill>
              <a:srgbClr val="A5B4FC"/>
            </a:solidFill>
            <a:prstDash val="solid"/>
            <a:tailEnd type="triangle"/>
          </a:ln>
        </p:spPr>
      </p:sp>
      <p:sp>
        <p:nvSpPr>
          <p:cNvPr id="15" name="Shape 10"/>
          <p:cNvSpPr/>
          <p:nvPr/>
        </p:nvSpPr>
        <p:spPr>
          <a:xfrm>
            <a:off x="5079675" y="1517904"/>
            <a:ext cx="2032345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5264" y="1636776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134539" y="1883664"/>
            <a:ext cx="19226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Check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7139452" y="1920240"/>
            <a:ext cx="201168" cy="0"/>
          </a:xfrm>
          <a:prstGeom prst="line">
            <a:avLst/>
          </a:prstGeom>
          <a:noFill/>
          <a:ln w="15875">
            <a:solidFill>
              <a:srgbClr val="A5B4FC"/>
            </a:solidFill>
            <a:prstDash val="solid"/>
            <a:tailEnd type="triangle"/>
          </a:ln>
        </p:spPr>
      </p:sp>
      <p:sp>
        <p:nvSpPr>
          <p:cNvPr id="19" name="Shape 13"/>
          <p:cNvSpPr/>
          <p:nvPr/>
        </p:nvSpPr>
        <p:spPr>
          <a:xfrm>
            <a:off x="7368052" y="1517904"/>
            <a:ext cx="2032345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3641" y="1636776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422916" y="1883664"/>
            <a:ext cx="19226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Evaluation /100</a:t>
            </a:r>
            <a:endParaRPr lang="en-US" sz="950" dirty="0"/>
          </a:p>
        </p:txBody>
      </p:sp>
      <p:sp>
        <p:nvSpPr>
          <p:cNvPr id="22" name="Shape 15"/>
          <p:cNvSpPr/>
          <p:nvPr/>
        </p:nvSpPr>
        <p:spPr>
          <a:xfrm>
            <a:off x="9427830" y="1920240"/>
            <a:ext cx="201168" cy="0"/>
          </a:xfrm>
          <a:prstGeom prst="line">
            <a:avLst/>
          </a:prstGeom>
          <a:noFill/>
          <a:ln w="15875">
            <a:solidFill>
              <a:srgbClr val="A5B4FC"/>
            </a:solidFill>
            <a:prstDash val="solid"/>
            <a:tailEnd type="triangle"/>
          </a:ln>
        </p:spPr>
      </p:sp>
      <p:sp>
        <p:nvSpPr>
          <p:cNvPr id="23" name="Shape 16"/>
          <p:cNvSpPr/>
          <p:nvPr/>
        </p:nvSpPr>
        <p:spPr>
          <a:xfrm>
            <a:off x="9656430" y="1517904"/>
            <a:ext cx="2032345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018" y="1636776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9711294" y="1883664"/>
            <a:ext cx="19226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</a:t>
            </a:r>
            <a:endParaRPr lang="en-US" sz="950" dirty="0"/>
          </a:p>
        </p:txBody>
      </p:sp>
      <p:sp>
        <p:nvSpPr>
          <p:cNvPr id="26" name="Shape 18"/>
          <p:cNvSpPr/>
          <p:nvPr/>
        </p:nvSpPr>
        <p:spPr>
          <a:xfrm>
            <a:off x="502920" y="2523744"/>
            <a:ext cx="2697480" cy="256032"/>
          </a:xfrm>
          <a:prstGeom prst="roundRect">
            <a:avLst>
              <a:gd name="adj" fmla="val 250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502920" y="252374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 ·  CLASSROOM EVALUATION</a:t>
            </a:r>
            <a:endParaRPr lang="en-US" sz="850" dirty="0"/>
          </a:p>
        </p:txBody>
      </p:sp>
      <p:sp>
        <p:nvSpPr>
          <p:cNvPr id="28" name="Shape 20"/>
          <p:cNvSpPr/>
          <p:nvPr/>
        </p:nvSpPr>
        <p:spPr>
          <a:xfrm>
            <a:off x="502920" y="2852928"/>
            <a:ext cx="1696669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0671" y="2971800"/>
            <a:ext cx="201168" cy="201168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57784" y="3218688"/>
            <a:ext cx="15869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/ Team</a:t>
            </a:r>
            <a:endParaRPr lang="en-US" sz="950" dirty="0"/>
          </a:p>
        </p:txBody>
      </p:sp>
      <p:sp>
        <p:nvSpPr>
          <p:cNvPr id="31" name="Shape 22"/>
          <p:cNvSpPr/>
          <p:nvPr/>
        </p:nvSpPr>
        <p:spPr>
          <a:xfrm>
            <a:off x="2217877" y="3236976"/>
            <a:ext cx="155448" cy="0"/>
          </a:xfrm>
          <a:prstGeom prst="line">
            <a:avLst/>
          </a:prstGeom>
          <a:noFill/>
          <a:ln w="15875">
            <a:solidFill>
              <a:srgbClr val="DDD6FE"/>
            </a:solidFill>
            <a:prstDash val="solid"/>
            <a:tailEnd type="triangle"/>
          </a:ln>
        </p:spPr>
      </p:sp>
      <p:sp>
        <p:nvSpPr>
          <p:cNvPr id="32" name="Shape 23"/>
          <p:cNvSpPr/>
          <p:nvPr/>
        </p:nvSpPr>
        <p:spPr>
          <a:xfrm>
            <a:off x="2400757" y="2852928"/>
            <a:ext cx="1696669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48508" y="2971800"/>
            <a:ext cx="201168" cy="201168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2455621" y="3218688"/>
            <a:ext cx="15869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</a:t>
            </a:r>
            <a:endParaRPr lang="en-US" sz="950" dirty="0"/>
          </a:p>
        </p:txBody>
      </p:sp>
      <p:sp>
        <p:nvSpPr>
          <p:cNvPr id="35" name="Shape 25"/>
          <p:cNvSpPr/>
          <p:nvPr/>
        </p:nvSpPr>
        <p:spPr>
          <a:xfrm>
            <a:off x="4115714" y="3236976"/>
            <a:ext cx="155448" cy="0"/>
          </a:xfrm>
          <a:prstGeom prst="line">
            <a:avLst/>
          </a:prstGeom>
          <a:noFill/>
          <a:ln w="15875">
            <a:solidFill>
              <a:srgbClr val="DDD6FE"/>
            </a:solidFill>
            <a:prstDash val="solid"/>
            <a:tailEnd type="triangle"/>
          </a:ln>
        </p:spPr>
      </p:sp>
      <p:sp>
        <p:nvSpPr>
          <p:cNvPr id="36" name="Shape 26"/>
          <p:cNvSpPr/>
          <p:nvPr/>
        </p:nvSpPr>
        <p:spPr>
          <a:xfrm>
            <a:off x="4298594" y="2852928"/>
            <a:ext cx="1696669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6345" y="2971800"/>
            <a:ext cx="201168" cy="201168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4353458" y="3218688"/>
            <a:ext cx="15869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950" dirty="0"/>
          </a:p>
        </p:txBody>
      </p:sp>
      <p:sp>
        <p:nvSpPr>
          <p:cNvPr id="39" name="Shape 28"/>
          <p:cNvSpPr/>
          <p:nvPr/>
        </p:nvSpPr>
        <p:spPr>
          <a:xfrm>
            <a:off x="6013552" y="3236976"/>
            <a:ext cx="155448" cy="0"/>
          </a:xfrm>
          <a:prstGeom prst="line">
            <a:avLst/>
          </a:prstGeom>
          <a:noFill/>
          <a:ln w="15875">
            <a:solidFill>
              <a:srgbClr val="DDD6FE"/>
            </a:solidFill>
            <a:prstDash val="solid"/>
            <a:tailEnd type="triangle"/>
          </a:ln>
        </p:spPr>
      </p:sp>
      <p:sp>
        <p:nvSpPr>
          <p:cNvPr id="40" name="Shape 29"/>
          <p:cNvSpPr/>
          <p:nvPr/>
        </p:nvSpPr>
        <p:spPr>
          <a:xfrm>
            <a:off x="6196432" y="2852928"/>
            <a:ext cx="1696669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44182" y="2971800"/>
            <a:ext cx="201168" cy="201168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6251296" y="3218688"/>
            <a:ext cx="15869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Check</a:t>
            </a:r>
            <a:endParaRPr lang="en-US" sz="950" dirty="0"/>
          </a:p>
        </p:txBody>
      </p:sp>
      <p:sp>
        <p:nvSpPr>
          <p:cNvPr id="43" name="Shape 31"/>
          <p:cNvSpPr/>
          <p:nvPr/>
        </p:nvSpPr>
        <p:spPr>
          <a:xfrm>
            <a:off x="7911389" y="3236976"/>
            <a:ext cx="155448" cy="0"/>
          </a:xfrm>
          <a:prstGeom prst="line">
            <a:avLst/>
          </a:prstGeom>
          <a:noFill/>
          <a:ln w="15875">
            <a:solidFill>
              <a:srgbClr val="DDD6FE"/>
            </a:solidFill>
            <a:prstDash val="solid"/>
            <a:tailEnd type="triangle"/>
          </a:ln>
        </p:spPr>
      </p:sp>
      <p:sp>
        <p:nvSpPr>
          <p:cNvPr id="44" name="Shape 32"/>
          <p:cNvSpPr/>
          <p:nvPr/>
        </p:nvSpPr>
        <p:spPr>
          <a:xfrm>
            <a:off x="8094269" y="2852928"/>
            <a:ext cx="1696669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42019" y="2971800"/>
            <a:ext cx="201168" cy="201168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8149133" y="3218688"/>
            <a:ext cx="15869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AI /50</a:t>
            </a:r>
            <a:endParaRPr lang="en-US" sz="950" dirty="0"/>
          </a:p>
        </p:txBody>
      </p:sp>
      <p:sp>
        <p:nvSpPr>
          <p:cNvPr id="47" name="Shape 34"/>
          <p:cNvSpPr/>
          <p:nvPr/>
        </p:nvSpPr>
        <p:spPr>
          <a:xfrm>
            <a:off x="9809226" y="3236976"/>
            <a:ext cx="155448" cy="0"/>
          </a:xfrm>
          <a:prstGeom prst="line">
            <a:avLst/>
          </a:prstGeom>
          <a:noFill/>
          <a:ln w="15875">
            <a:solidFill>
              <a:srgbClr val="DDD6FE"/>
            </a:solidFill>
            <a:prstDash val="solid"/>
            <a:tailEnd type="triangle"/>
          </a:ln>
        </p:spPr>
      </p:sp>
      <p:sp>
        <p:nvSpPr>
          <p:cNvPr id="48" name="Shape 35"/>
          <p:cNvSpPr/>
          <p:nvPr/>
        </p:nvSpPr>
        <p:spPr>
          <a:xfrm>
            <a:off x="9992106" y="2852928"/>
            <a:ext cx="1696669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39857" y="2971800"/>
            <a:ext cx="201168" cy="201168"/>
          </a:xfrm>
          <a:prstGeom prst="rect">
            <a:avLst/>
          </a:prstGeom>
        </p:spPr>
      </p:pic>
      <p:sp>
        <p:nvSpPr>
          <p:cNvPr id="50" name="Text 36"/>
          <p:cNvSpPr txBox="1"/>
          <p:nvPr/>
        </p:nvSpPr>
        <p:spPr>
          <a:xfrm>
            <a:off x="10046970" y="3218688"/>
            <a:ext cx="15869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+ Demo /25</a:t>
            </a:r>
            <a:endParaRPr lang="en-US" sz="950" dirty="0"/>
          </a:p>
        </p:txBody>
      </p:sp>
      <p:sp>
        <p:nvSpPr>
          <p:cNvPr id="51" name="Shape 37"/>
          <p:cNvSpPr/>
          <p:nvPr/>
        </p:nvSpPr>
        <p:spPr>
          <a:xfrm>
            <a:off x="502920" y="3858768"/>
            <a:ext cx="1696669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pic>
        <p:nvPicPr>
          <p:cNvPr id="5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50671" y="3977640"/>
            <a:ext cx="201168" cy="201168"/>
          </a:xfrm>
          <a:prstGeom prst="rect">
            <a:avLst/>
          </a:prstGeom>
        </p:spPr>
      </p:pic>
      <p:sp>
        <p:nvSpPr>
          <p:cNvPr id="53" name="Text 38"/>
          <p:cNvSpPr txBox="1"/>
          <p:nvPr/>
        </p:nvSpPr>
        <p:spPr>
          <a:xfrm>
            <a:off x="557784" y="4224528"/>
            <a:ext cx="15869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/25</a:t>
            </a:r>
            <a:endParaRPr lang="en-US" sz="950" dirty="0"/>
          </a:p>
        </p:txBody>
      </p:sp>
      <p:sp>
        <p:nvSpPr>
          <p:cNvPr id="54" name="Shape 39"/>
          <p:cNvSpPr/>
          <p:nvPr/>
        </p:nvSpPr>
        <p:spPr>
          <a:xfrm>
            <a:off x="2217877" y="4242816"/>
            <a:ext cx="155448" cy="0"/>
          </a:xfrm>
          <a:prstGeom prst="line">
            <a:avLst/>
          </a:prstGeom>
          <a:noFill/>
          <a:ln w="15875">
            <a:solidFill>
              <a:srgbClr val="DDD6FE"/>
            </a:solidFill>
            <a:prstDash val="solid"/>
            <a:tailEnd type="triangle"/>
          </a:ln>
        </p:spPr>
      </p:sp>
      <p:sp>
        <p:nvSpPr>
          <p:cNvPr id="55" name="Shape 40"/>
          <p:cNvSpPr/>
          <p:nvPr/>
        </p:nvSpPr>
        <p:spPr>
          <a:xfrm>
            <a:off x="2400757" y="3858768"/>
            <a:ext cx="1696669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pic>
        <p:nvPicPr>
          <p:cNvPr id="5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48508" y="3977640"/>
            <a:ext cx="201168" cy="201168"/>
          </a:xfrm>
          <a:prstGeom prst="rect">
            <a:avLst/>
          </a:prstGeom>
        </p:spPr>
      </p:pic>
      <p:sp>
        <p:nvSpPr>
          <p:cNvPr id="57" name="Text 41"/>
          <p:cNvSpPr txBox="1"/>
          <p:nvPr/>
        </p:nvSpPr>
        <p:spPr>
          <a:xfrm>
            <a:off x="2455621" y="4224528"/>
            <a:ext cx="15869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Score /100</a:t>
            </a:r>
            <a:endParaRPr lang="en-US" sz="950" dirty="0"/>
          </a:p>
        </p:txBody>
      </p:sp>
      <p:sp>
        <p:nvSpPr>
          <p:cNvPr id="58" name="Shape 42"/>
          <p:cNvSpPr/>
          <p:nvPr/>
        </p:nvSpPr>
        <p:spPr>
          <a:xfrm>
            <a:off x="4115714" y="4242816"/>
            <a:ext cx="155448" cy="0"/>
          </a:xfrm>
          <a:prstGeom prst="line">
            <a:avLst/>
          </a:prstGeom>
          <a:noFill/>
          <a:ln w="15875">
            <a:solidFill>
              <a:srgbClr val="DDD6FE"/>
            </a:solidFill>
            <a:prstDash val="solid"/>
            <a:tailEnd type="triangle"/>
          </a:ln>
        </p:spPr>
      </p:sp>
      <p:sp>
        <p:nvSpPr>
          <p:cNvPr id="59" name="Shape 43"/>
          <p:cNvSpPr/>
          <p:nvPr/>
        </p:nvSpPr>
        <p:spPr>
          <a:xfrm>
            <a:off x="4298594" y="3858768"/>
            <a:ext cx="1696669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pic>
        <p:nvPicPr>
          <p:cNvPr id="6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46345" y="3977640"/>
            <a:ext cx="201168" cy="201168"/>
          </a:xfrm>
          <a:prstGeom prst="rect">
            <a:avLst/>
          </a:prstGeom>
        </p:spPr>
      </p:pic>
      <p:sp>
        <p:nvSpPr>
          <p:cNvPr id="61" name="Text 44"/>
          <p:cNvSpPr txBox="1"/>
          <p:nvPr/>
        </p:nvSpPr>
        <p:spPr>
          <a:xfrm>
            <a:off x="4353458" y="4224528"/>
            <a:ext cx="15869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Verification</a:t>
            </a:r>
            <a:endParaRPr lang="en-US" sz="950" dirty="0"/>
          </a:p>
        </p:txBody>
      </p:sp>
      <p:sp>
        <p:nvSpPr>
          <p:cNvPr id="62" name="Shape 45"/>
          <p:cNvSpPr/>
          <p:nvPr/>
        </p:nvSpPr>
        <p:spPr>
          <a:xfrm>
            <a:off x="6013552" y="4242816"/>
            <a:ext cx="155448" cy="0"/>
          </a:xfrm>
          <a:prstGeom prst="line">
            <a:avLst/>
          </a:prstGeom>
          <a:noFill/>
          <a:ln w="15875">
            <a:solidFill>
              <a:srgbClr val="DDD6FE"/>
            </a:solidFill>
            <a:prstDash val="solid"/>
            <a:tailEnd type="triangle"/>
          </a:ln>
        </p:spPr>
      </p:sp>
      <p:sp>
        <p:nvSpPr>
          <p:cNvPr id="63" name="Shape 46"/>
          <p:cNvSpPr/>
          <p:nvPr/>
        </p:nvSpPr>
        <p:spPr>
          <a:xfrm>
            <a:off x="6196432" y="3858768"/>
            <a:ext cx="1696669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pic>
        <p:nvPicPr>
          <p:cNvPr id="6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44182" y="3977640"/>
            <a:ext cx="201168" cy="201168"/>
          </a:xfrm>
          <a:prstGeom prst="rect">
            <a:avLst/>
          </a:prstGeom>
        </p:spPr>
      </p:pic>
      <p:sp>
        <p:nvSpPr>
          <p:cNvPr id="65" name="Text 47"/>
          <p:cNvSpPr txBox="1"/>
          <p:nvPr/>
        </p:nvSpPr>
        <p:spPr>
          <a:xfrm>
            <a:off x="6251296" y="4224528"/>
            <a:ext cx="15869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50" dirty="0"/>
          </a:p>
        </p:txBody>
      </p:sp>
      <p:sp>
        <p:nvSpPr>
          <p:cNvPr id="66" name="Shape 48"/>
          <p:cNvSpPr/>
          <p:nvPr/>
        </p:nvSpPr>
        <p:spPr>
          <a:xfrm>
            <a:off x="7911389" y="4242816"/>
            <a:ext cx="155448" cy="0"/>
          </a:xfrm>
          <a:prstGeom prst="line">
            <a:avLst/>
          </a:prstGeom>
          <a:noFill/>
          <a:ln w="15875">
            <a:solidFill>
              <a:srgbClr val="DDD6FE"/>
            </a:solidFill>
            <a:prstDash val="solid"/>
            <a:tailEnd type="triangle"/>
          </a:ln>
        </p:spPr>
      </p:sp>
      <p:sp>
        <p:nvSpPr>
          <p:cNvPr id="67" name="Shape 49"/>
          <p:cNvSpPr/>
          <p:nvPr/>
        </p:nvSpPr>
        <p:spPr>
          <a:xfrm>
            <a:off x="8094269" y="3858768"/>
            <a:ext cx="1696669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pic>
        <p:nvPicPr>
          <p:cNvPr id="6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42019" y="3977640"/>
            <a:ext cx="201168" cy="201168"/>
          </a:xfrm>
          <a:prstGeom prst="rect">
            <a:avLst/>
          </a:prstGeom>
        </p:spPr>
      </p:pic>
      <p:sp>
        <p:nvSpPr>
          <p:cNvPr id="69" name="Text 50"/>
          <p:cNvSpPr txBox="1"/>
          <p:nvPr/>
        </p:nvSpPr>
        <p:spPr>
          <a:xfrm>
            <a:off x="8149133" y="4224528"/>
            <a:ext cx="15869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950" dirty="0"/>
          </a:p>
        </p:txBody>
      </p:sp>
      <p:sp>
        <p:nvSpPr>
          <p:cNvPr id="70" name="Shape 51"/>
          <p:cNvSpPr/>
          <p:nvPr/>
        </p:nvSpPr>
        <p:spPr>
          <a:xfrm>
            <a:off x="9809226" y="4242816"/>
            <a:ext cx="155448" cy="0"/>
          </a:xfrm>
          <a:prstGeom prst="line">
            <a:avLst/>
          </a:prstGeom>
          <a:noFill/>
          <a:ln w="15875">
            <a:solidFill>
              <a:srgbClr val="DDD6FE"/>
            </a:solidFill>
            <a:prstDash val="solid"/>
            <a:tailEnd type="triangle"/>
          </a:ln>
        </p:spPr>
      </p:sp>
      <p:sp>
        <p:nvSpPr>
          <p:cNvPr id="71" name="Shape 52"/>
          <p:cNvSpPr/>
          <p:nvPr/>
        </p:nvSpPr>
        <p:spPr>
          <a:xfrm>
            <a:off x="9992106" y="3858768"/>
            <a:ext cx="1696669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pic>
        <p:nvPicPr>
          <p:cNvPr id="7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739857" y="3977640"/>
            <a:ext cx="201168" cy="201168"/>
          </a:xfrm>
          <a:prstGeom prst="rect">
            <a:avLst/>
          </a:prstGeom>
        </p:spPr>
      </p:pic>
      <p:sp>
        <p:nvSpPr>
          <p:cNvPr id="73" name="Text 53"/>
          <p:cNvSpPr txBox="1"/>
          <p:nvPr/>
        </p:nvSpPr>
        <p:spPr>
          <a:xfrm>
            <a:off x="10046970" y="4224528"/>
            <a:ext cx="15869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Result</a:t>
            </a:r>
            <a:endParaRPr lang="en-US" sz="950" dirty="0"/>
          </a:p>
        </p:txBody>
      </p:sp>
      <p:sp>
        <p:nvSpPr>
          <p:cNvPr id="74" name="Shape 54"/>
          <p:cNvSpPr/>
          <p:nvPr/>
        </p:nvSpPr>
        <p:spPr>
          <a:xfrm>
            <a:off x="10840441" y="3621024"/>
            <a:ext cx="0" cy="118872"/>
          </a:xfrm>
          <a:prstGeom prst="line">
            <a:avLst/>
          </a:prstGeom>
          <a:noFill/>
          <a:ln w="15875">
            <a:solidFill>
              <a:srgbClr val="DDD6FE"/>
            </a:solidFill>
            <a:prstDash val="solid"/>
          </a:ln>
        </p:spPr>
      </p:sp>
      <p:sp>
        <p:nvSpPr>
          <p:cNvPr id="75" name="Shape 55"/>
          <p:cNvSpPr/>
          <p:nvPr/>
        </p:nvSpPr>
        <p:spPr>
          <a:xfrm>
            <a:off x="1351255" y="3739896"/>
            <a:ext cx="9489186" cy="0"/>
          </a:xfrm>
          <a:prstGeom prst="line">
            <a:avLst/>
          </a:prstGeom>
          <a:noFill/>
          <a:ln w="15875">
            <a:solidFill>
              <a:srgbClr val="DDD6FE"/>
            </a:solidFill>
            <a:prstDash val="solid"/>
          </a:ln>
        </p:spPr>
      </p:sp>
      <p:sp>
        <p:nvSpPr>
          <p:cNvPr id="76" name="Shape 56"/>
          <p:cNvSpPr/>
          <p:nvPr/>
        </p:nvSpPr>
        <p:spPr>
          <a:xfrm>
            <a:off x="1351255" y="3739896"/>
            <a:ext cx="0" cy="118872"/>
          </a:xfrm>
          <a:prstGeom prst="line">
            <a:avLst/>
          </a:prstGeom>
          <a:noFill/>
          <a:ln w="15875">
            <a:solidFill>
              <a:srgbClr val="DDD6FE"/>
            </a:solidFill>
            <a:prstDash val="solid"/>
            <a:tailEnd type="triangle"/>
          </a:ln>
        </p:spPr>
      </p:sp>
      <p:sp>
        <p:nvSpPr>
          <p:cNvPr id="77" name="Shape 57"/>
          <p:cNvSpPr/>
          <p:nvPr/>
        </p:nvSpPr>
        <p:spPr>
          <a:xfrm>
            <a:off x="502920" y="4882896"/>
            <a:ext cx="5483200" cy="1042416"/>
          </a:xfrm>
          <a:prstGeom prst="roundRect">
            <a:avLst>
              <a:gd name="adj" fmla="val 6140"/>
            </a:avLst>
          </a:prstGeom>
          <a:solidFill>
            <a:srgbClr val="EEF2FF"/>
          </a:solidFill>
          <a:ln w="12700">
            <a:solidFill>
              <a:srgbClr val="DDE3FF"/>
            </a:solidFill>
            <a:prstDash val="solid"/>
          </a:ln>
        </p:spPr>
      </p:sp>
      <p:sp>
        <p:nvSpPr>
          <p:cNvPr id="78" name="Text 58"/>
          <p:cNvSpPr txBox="1"/>
          <p:nvPr/>
        </p:nvSpPr>
        <p:spPr>
          <a:xfrm>
            <a:off x="758952" y="5010912"/>
            <a:ext cx="365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CHECKER AI</a:t>
            </a:r>
            <a:endParaRPr lang="en-US" sz="1250" dirty="0"/>
          </a:p>
        </p:txBody>
      </p:sp>
      <p:sp>
        <p:nvSpPr>
          <p:cNvPr id="79" name="Text 59"/>
          <p:cNvSpPr txBox="1"/>
          <p:nvPr/>
        </p:nvSpPr>
        <p:spPr>
          <a:xfrm>
            <a:off x="758952" y="5303520"/>
            <a:ext cx="365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evaluation of any project, outside any classroom. Produces the AI Score, full report and improvement priority.</a:t>
            </a:r>
            <a:endParaRPr lang="en-US" sz="1000" dirty="0"/>
          </a:p>
        </p:txBody>
      </p:sp>
      <p:sp>
        <p:nvSpPr>
          <p:cNvPr id="80" name="Text 60"/>
          <p:cNvSpPr txBox="1"/>
          <p:nvPr/>
        </p:nvSpPr>
        <p:spPr>
          <a:xfrm>
            <a:off x="4431640" y="5029200"/>
            <a:ext cx="12984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/100</a:t>
            </a:r>
            <a:endParaRPr lang="en-US" sz="3400" dirty="0"/>
          </a:p>
        </p:txBody>
      </p:sp>
      <p:sp>
        <p:nvSpPr>
          <p:cNvPr id="81" name="Shape 61"/>
          <p:cNvSpPr/>
          <p:nvPr/>
        </p:nvSpPr>
        <p:spPr>
          <a:xfrm>
            <a:off x="6205576" y="4882896"/>
            <a:ext cx="5483200" cy="1042416"/>
          </a:xfrm>
          <a:prstGeom prst="roundRect">
            <a:avLst>
              <a:gd name="adj" fmla="val 6140"/>
            </a:avLst>
          </a:prstGeom>
          <a:solidFill>
            <a:srgbClr val="F5F3FF"/>
          </a:solidFill>
          <a:ln w="12700">
            <a:solidFill>
              <a:srgbClr val="E9E3FF"/>
            </a:solidFill>
            <a:prstDash val="solid"/>
          </a:ln>
        </p:spPr>
      </p:sp>
      <p:sp>
        <p:nvSpPr>
          <p:cNvPr id="82" name="Text 62"/>
          <p:cNvSpPr txBox="1"/>
          <p:nvPr/>
        </p:nvSpPr>
        <p:spPr>
          <a:xfrm>
            <a:off x="6461608" y="5010912"/>
            <a:ext cx="365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AI</a:t>
            </a:r>
            <a:endParaRPr lang="en-US" sz="1250" dirty="0"/>
          </a:p>
        </p:txBody>
      </p:sp>
      <p:sp>
        <p:nvSpPr>
          <p:cNvPr id="83" name="Text 63"/>
          <p:cNvSpPr txBox="1"/>
          <p:nvPr/>
        </p:nvSpPr>
        <p:spPr>
          <a:xfrm>
            <a:off x="6461608" y="5303520"/>
            <a:ext cx="365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component inside the classroom score, combined with PPT + Demo /25 and Viva /25 to form the final /100.</a:t>
            </a:r>
            <a:endParaRPr lang="en-US" sz="1000" dirty="0"/>
          </a:p>
        </p:txBody>
      </p:sp>
      <p:sp>
        <p:nvSpPr>
          <p:cNvPr id="84" name="Text 64"/>
          <p:cNvSpPr txBox="1"/>
          <p:nvPr/>
        </p:nvSpPr>
        <p:spPr>
          <a:xfrm>
            <a:off x="10134295" y="5029200"/>
            <a:ext cx="12984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/50</a:t>
            </a:r>
            <a:endParaRPr lang="en-US" sz="3400" dirty="0"/>
          </a:p>
        </p:txBody>
      </p:sp>
      <p:sp>
        <p:nvSpPr>
          <p:cNvPr id="85" name="Shape 65"/>
          <p:cNvSpPr/>
          <p:nvPr/>
        </p:nvSpPr>
        <p:spPr>
          <a:xfrm>
            <a:off x="502920" y="6035040"/>
            <a:ext cx="11185855" cy="384048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86" name="Text 66"/>
          <p:cNvSpPr txBox="1"/>
          <p:nvPr/>
        </p:nvSpPr>
        <p:spPr>
          <a:xfrm>
            <a:off x="1161288" y="6035040"/>
            <a:ext cx="10271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Checker AI /100 and Classroom AI /50 are two separate evaluation models — they are never combined into a single score.</a:t>
            </a:r>
            <a:endParaRPr lang="en-US" sz="1100" dirty="0"/>
          </a:p>
        </p:txBody>
      </p:sp>
      <p:pic>
        <p:nvPicPr>
          <p:cNvPr id="87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8952" y="6135624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38328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9848" y="365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 ·  STANDALONE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1042416" y="566928"/>
            <a:ext cx="10515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Checker — AI Evaluation /100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124358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WORKFLOW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4983480" cy="420624"/>
          </a:xfrm>
          <a:prstGeom prst="roundRect">
            <a:avLst>
              <a:gd name="adj" fmla="val 152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563624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78408" y="146304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2994660" y="1892808"/>
            <a:ext cx="0" cy="109728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0" name="Shape 6"/>
          <p:cNvSpPr/>
          <p:nvPr/>
        </p:nvSpPr>
        <p:spPr>
          <a:xfrm>
            <a:off x="502920" y="2011680"/>
            <a:ext cx="4983480" cy="420624"/>
          </a:xfrm>
          <a:prstGeom prst="roundRect">
            <a:avLst>
              <a:gd name="adj" fmla="val 152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112264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78408" y="201168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Resources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2994660" y="2441448"/>
            <a:ext cx="0" cy="109728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4" name="Shape 9"/>
          <p:cNvSpPr/>
          <p:nvPr/>
        </p:nvSpPr>
        <p:spPr>
          <a:xfrm>
            <a:off x="502920" y="2560320"/>
            <a:ext cx="4983480" cy="420624"/>
          </a:xfrm>
          <a:prstGeom prst="roundRect">
            <a:avLst>
              <a:gd name="adj" fmla="val 152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2660904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78408" y="256032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Analysis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2994660" y="2990088"/>
            <a:ext cx="0" cy="109728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8" name="Shape 12"/>
          <p:cNvSpPr/>
          <p:nvPr/>
        </p:nvSpPr>
        <p:spPr>
          <a:xfrm>
            <a:off x="502920" y="3108960"/>
            <a:ext cx="4983480" cy="420624"/>
          </a:xfrm>
          <a:prstGeom prst="roundRect">
            <a:avLst>
              <a:gd name="adj" fmla="val 152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3209544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78408" y="31089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Evaluation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2994660" y="3538728"/>
            <a:ext cx="0" cy="109728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02920" y="3657600"/>
            <a:ext cx="4983480" cy="420624"/>
          </a:xfrm>
          <a:prstGeom prst="roundRect">
            <a:avLst>
              <a:gd name="adj" fmla="val 152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3758184"/>
            <a:ext cx="219456" cy="219456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978408" y="365760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</a:t>
            </a:r>
            <a:endParaRPr lang="en-US" sz="1150" dirty="0"/>
          </a:p>
        </p:txBody>
      </p:sp>
      <p:sp>
        <p:nvSpPr>
          <p:cNvPr id="25" name="Shape 17"/>
          <p:cNvSpPr/>
          <p:nvPr/>
        </p:nvSpPr>
        <p:spPr>
          <a:xfrm>
            <a:off x="502920" y="4261104"/>
            <a:ext cx="4983480" cy="2157984"/>
          </a:xfrm>
          <a:prstGeom prst="roundRect">
            <a:avLst>
              <a:gd name="adj" fmla="val 296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26" name="Text 18"/>
          <p:cNvSpPr txBox="1"/>
          <p:nvPr/>
        </p:nvSpPr>
        <p:spPr>
          <a:xfrm>
            <a:off x="722376" y="442569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CRITERIA</a:t>
            </a:r>
            <a:endParaRPr lang="en-US" sz="900" dirty="0"/>
          </a:p>
        </p:txBody>
      </p:sp>
      <p:sp>
        <p:nvSpPr>
          <p:cNvPr id="27" name="Text 19"/>
          <p:cNvSpPr txBox="1"/>
          <p:nvPr/>
        </p:nvSpPr>
        <p:spPr>
          <a:xfrm>
            <a:off x="4572000" y="442569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722376" y="4663440"/>
            <a:ext cx="4544568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722376" y="47548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2834640" y="4823460"/>
            <a:ext cx="1554480" cy="59436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1" name="Shape 23"/>
          <p:cNvSpPr/>
          <p:nvPr/>
        </p:nvSpPr>
        <p:spPr>
          <a:xfrm>
            <a:off x="2834640" y="4823460"/>
            <a:ext cx="1165860" cy="5943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2" name="Text 24"/>
          <p:cNvSpPr txBox="1"/>
          <p:nvPr/>
        </p:nvSpPr>
        <p:spPr>
          <a:xfrm>
            <a:off x="4572000" y="475488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722376" y="495147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Novelty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2834640" y="5020056"/>
            <a:ext cx="1554480" cy="59436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5" name="Shape 27"/>
          <p:cNvSpPr/>
          <p:nvPr/>
        </p:nvSpPr>
        <p:spPr>
          <a:xfrm>
            <a:off x="2834640" y="5020056"/>
            <a:ext cx="1554480" cy="5943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4572000" y="495147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37" name="Text 29"/>
          <p:cNvSpPr txBox="1"/>
          <p:nvPr/>
        </p:nvSpPr>
        <p:spPr>
          <a:xfrm>
            <a:off x="722376" y="514807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2834640" y="5216652"/>
            <a:ext cx="1554480" cy="59436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9" name="Shape 31"/>
          <p:cNvSpPr/>
          <p:nvPr/>
        </p:nvSpPr>
        <p:spPr>
          <a:xfrm>
            <a:off x="2834640" y="5216652"/>
            <a:ext cx="1554480" cy="5943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0" name="Text 32"/>
          <p:cNvSpPr txBox="1"/>
          <p:nvPr/>
        </p:nvSpPr>
        <p:spPr>
          <a:xfrm>
            <a:off x="4572000" y="514807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41" name="Text 33"/>
          <p:cNvSpPr txBox="1"/>
          <p:nvPr/>
        </p:nvSpPr>
        <p:spPr>
          <a:xfrm>
            <a:off x="722376" y="534466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2834640" y="5413248"/>
            <a:ext cx="1554480" cy="59436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43" name="Shape 35"/>
          <p:cNvSpPr/>
          <p:nvPr/>
        </p:nvSpPr>
        <p:spPr>
          <a:xfrm>
            <a:off x="2834640" y="5413248"/>
            <a:ext cx="1165860" cy="59436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44" name="Text 36"/>
          <p:cNvSpPr txBox="1"/>
          <p:nvPr/>
        </p:nvSpPr>
        <p:spPr>
          <a:xfrm>
            <a:off x="4572000" y="5344668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45" name="Text 37"/>
          <p:cNvSpPr txBox="1"/>
          <p:nvPr/>
        </p:nvSpPr>
        <p:spPr>
          <a:xfrm>
            <a:off x="722376" y="554126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2834640" y="5609844"/>
            <a:ext cx="1554480" cy="59436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47" name="Shape 39"/>
          <p:cNvSpPr/>
          <p:nvPr/>
        </p:nvSpPr>
        <p:spPr>
          <a:xfrm>
            <a:off x="2834640" y="5609844"/>
            <a:ext cx="777240" cy="59436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48" name="Text 40"/>
          <p:cNvSpPr txBox="1"/>
          <p:nvPr/>
        </p:nvSpPr>
        <p:spPr>
          <a:xfrm>
            <a:off x="4572000" y="554126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9" name="Text 41"/>
          <p:cNvSpPr txBox="1"/>
          <p:nvPr/>
        </p:nvSpPr>
        <p:spPr>
          <a:xfrm>
            <a:off x="722376" y="57378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000" dirty="0"/>
          </a:p>
        </p:txBody>
      </p:sp>
      <p:sp>
        <p:nvSpPr>
          <p:cNvPr id="50" name="Shape 42"/>
          <p:cNvSpPr/>
          <p:nvPr/>
        </p:nvSpPr>
        <p:spPr>
          <a:xfrm>
            <a:off x="2834640" y="5806440"/>
            <a:ext cx="1554480" cy="59436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51" name="Shape 43"/>
          <p:cNvSpPr/>
          <p:nvPr/>
        </p:nvSpPr>
        <p:spPr>
          <a:xfrm>
            <a:off x="2834640" y="5806440"/>
            <a:ext cx="777240" cy="59436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52" name="Text 44"/>
          <p:cNvSpPr txBox="1"/>
          <p:nvPr/>
        </p:nvSpPr>
        <p:spPr>
          <a:xfrm>
            <a:off x="4572000" y="573786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3" name="Text 45"/>
          <p:cNvSpPr txBox="1"/>
          <p:nvPr/>
        </p:nvSpPr>
        <p:spPr>
          <a:xfrm>
            <a:off x="722376" y="59344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Project Quality</a:t>
            </a:r>
            <a:endParaRPr lang="en-US" sz="1000" dirty="0"/>
          </a:p>
        </p:txBody>
      </p:sp>
      <p:sp>
        <p:nvSpPr>
          <p:cNvPr id="54" name="Shape 46"/>
          <p:cNvSpPr/>
          <p:nvPr/>
        </p:nvSpPr>
        <p:spPr>
          <a:xfrm>
            <a:off x="2834640" y="6003036"/>
            <a:ext cx="1554480" cy="59436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55" name="Shape 47"/>
          <p:cNvSpPr/>
          <p:nvPr/>
        </p:nvSpPr>
        <p:spPr>
          <a:xfrm>
            <a:off x="2834640" y="6003036"/>
            <a:ext cx="777240" cy="59436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56" name="Text 48"/>
          <p:cNvSpPr txBox="1"/>
          <p:nvPr/>
        </p:nvSpPr>
        <p:spPr>
          <a:xfrm>
            <a:off x="4572000" y="593445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7" name="Shape 49"/>
          <p:cNvSpPr/>
          <p:nvPr/>
        </p:nvSpPr>
        <p:spPr>
          <a:xfrm>
            <a:off x="722376" y="6153912"/>
            <a:ext cx="4544568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0"/>
          <p:cNvSpPr txBox="1"/>
          <p:nvPr/>
        </p:nvSpPr>
        <p:spPr>
          <a:xfrm>
            <a:off x="722376" y="61813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59" name="Text 51"/>
          <p:cNvSpPr txBox="1"/>
          <p:nvPr/>
        </p:nvSpPr>
        <p:spPr>
          <a:xfrm>
            <a:off x="4572000" y="6163056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400" dirty="0"/>
          </a:p>
        </p:txBody>
      </p:sp>
      <p:sp>
        <p:nvSpPr>
          <p:cNvPr id="60" name="Shape 52"/>
          <p:cNvSpPr/>
          <p:nvPr/>
        </p:nvSpPr>
        <p:spPr>
          <a:xfrm>
            <a:off x="5788152" y="1243584"/>
            <a:ext cx="5897880" cy="5175504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03200" dist="25400" dir="5400000">
              <a:srgbClr val="0F172A">
                <a:alpha val="9000"/>
              </a:srgbClr>
            </a:outerShdw>
          </a:effectLst>
        </p:spPr>
      </p:sp>
      <p:sp>
        <p:nvSpPr>
          <p:cNvPr id="61" name="Shape 53"/>
          <p:cNvSpPr/>
          <p:nvPr/>
        </p:nvSpPr>
        <p:spPr>
          <a:xfrm>
            <a:off x="5788152" y="1243584"/>
            <a:ext cx="589788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2" name="Shape 54"/>
          <p:cNvSpPr/>
          <p:nvPr/>
        </p:nvSpPr>
        <p:spPr>
          <a:xfrm>
            <a:off x="5788152" y="1700784"/>
            <a:ext cx="589788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3" name="Text 55"/>
          <p:cNvSpPr txBox="1"/>
          <p:nvPr/>
        </p:nvSpPr>
        <p:spPr>
          <a:xfrm>
            <a:off x="6025896" y="124358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EVALUATION REPORT</a:t>
            </a:r>
            <a:endParaRPr lang="en-US" sz="1100" dirty="0"/>
          </a:p>
        </p:txBody>
      </p:sp>
      <p:sp>
        <p:nvSpPr>
          <p:cNvPr id="64" name="Shape 56"/>
          <p:cNvSpPr/>
          <p:nvPr/>
        </p:nvSpPr>
        <p:spPr>
          <a:xfrm>
            <a:off x="10424160" y="1353312"/>
            <a:ext cx="1024128" cy="237744"/>
          </a:xfrm>
          <a:prstGeom prst="roundRect">
            <a:avLst>
              <a:gd name="adj" fmla="val 2692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65" name="Text 57"/>
          <p:cNvSpPr txBox="1"/>
          <p:nvPr/>
        </p:nvSpPr>
        <p:spPr>
          <a:xfrm>
            <a:off x="10424160" y="135331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66" name="Text 58"/>
          <p:cNvSpPr txBox="1"/>
          <p:nvPr/>
        </p:nvSpPr>
        <p:spPr>
          <a:xfrm>
            <a:off x="6025896" y="186537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SCORE</a:t>
            </a:r>
            <a:endParaRPr lang="en-US" sz="850" dirty="0"/>
          </a:p>
        </p:txBody>
      </p:sp>
      <p:sp>
        <p:nvSpPr>
          <p:cNvPr id="67" name="Text 59"/>
          <p:cNvSpPr txBox="1"/>
          <p:nvPr/>
        </p:nvSpPr>
        <p:spPr>
          <a:xfrm>
            <a:off x="6007608" y="2029968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4600" dirty="0"/>
          </a:p>
        </p:txBody>
      </p:sp>
      <p:sp>
        <p:nvSpPr>
          <p:cNvPr id="68" name="Text 60"/>
          <p:cNvSpPr txBox="1"/>
          <p:nvPr/>
        </p:nvSpPr>
        <p:spPr>
          <a:xfrm>
            <a:off x="6976872" y="228600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1500" dirty="0"/>
          </a:p>
        </p:txBody>
      </p:sp>
      <p:sp>
        <p:nvSpPr>
          <p:cNvPr id="69" name="Shape 61"/>
          <p:cNvSpPr/>
          <p:nvPr/>
        </p:nvSpPr>
        <p:spPr>
          <a:xfrm>
            <a:off x="7891272" y="2212848"/>
            <a:ext cx="3557016" cy="128016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70" name="Shape 62"/>
          <p:cNvSpPr/>
          <p:nvPr/>
        </p:nvSpPr>
        <p:spPr>
          <a:xfrm>
            <a:off x="7891272" y="2212848"/>
            <a:ext cx="3090672" cy="12801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1" name="Text 63"/>
          <p:cNvSpPr txBox="1"/>
          <p:nvPr/>
        </p:nvSpPr>
        <p:spPr>
          <a:xfrm>
            <a:off x="7891272" y="2377440"/>
            <a:ext cx="3557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project quality  ·  Grade A</a:t>
            </a:r>
            <a:endParaRPr lang="en-US" sz="900" dirty="0"/>
          </a:p>
        </p:txBody>
      </p:sp>
      <p:sp>
        <p:nvSpPr>
          <p:cNvPr id="72" name="Text 64"/>
          <p:cNvSpPr txBox="1"/>
          <p:nvPr/>
        </p:nvSpPr>
        <p:spPr>
          <a:xfrm>
            <a:off x="6025896" y="267004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950" dirty="0"/>
          </a:p>
        </p:txBody>
      </p:sp>
      <p:sp>
        <p:nvSpPr>
          <p:cNvPr id="73" name="Text 65"/>
          <p:cNvSpPr txBox="1"/>
          <p:nvPr/>
        </p:nvSpPr>
        <p:spPr>
          <a:xfrm>
            <a:off x="7900416" y="267004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13/15</a:t>
            </a:r>
            <a:endParaRPr lang="en-US" sz="1000" dirty="0"/>
          </a:p>
        </p:txBody>
      </p:sp>
      <p:sp>
        <p:nvSpPr>
          <p:cNvPr id="74" name="Shape 66"/>
          <p:cNvSpPr/>
          <p:nvPr/>
        </p:nvSpPr>
        <p:spPr>
          <a:xfrm>
            <a:off x="6025896" y="2944368"/>
            <a:ext cx="2624328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5" name="Text 67"/>
          <p:cNvSpPr txBox="1"/>
          <p:nvPr/>
        </p:nvSpPr>
        <p:spPr>
          <a:xfrm>
            <a:off x="8860536" y="267004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Novelty</a:t>
            </a:r>
            <a:endParaRPr lang="en-US" sz="950" dirty="0"/>
          </a:p>
        </p:txBody>
      </p:sp>
      <p:sp>
        <p:nvSpPr>
          <p:cNvPr id="76" name="Text 68"/>
          <p:cNvSpPr txBox="1"/>
          <p:nvPr/>
        </p:nvSpPr>
        <p:spPr>
          <a:xfrm>
            <a:off x="10735056" y="267004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18/20</a:t>
            </a:r>
            <a:endParaRPr lang="en-US" sz="1000" dirty="0"/>
          </a:p>
        </p:txBody>
      </p:sp>
      <p:sp>
        <p:nvSpPr>
          <p:cNvPr id="77" name="Shape 69"/>
          <p:cNvSpPr/>
          <p:nvPr/>
        </p:nvSpPr>
        <p:spPr>
          <a:xfrm>
            <a:off x="8860536" y="2944368"/>
            <a:ext cx="2624328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8" name="Text 70"/>
          <p:cNvSpPr txBox="1"/>
          <p:nvPr/>
        </p:nvSpPr>
        <p:spPr>
          <a:xfrm>
            <a:off x="6025896" y="297637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950" dirty="0"/>
          </a:p>
        </p:txBody>
      </p:sp>
      <p:sp>
        <p:nvSpPr>
          <p:cNvPr id="79" name="Text 71"/>
          <p:cNvSpPr txBox="1"/>
          <p:nvPr/>
        </p:nvSpPr>
        <p:spPr>
          <a:xfrm>
            <a:off x="7900416" y="297637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17/20</a:t>
            </a:r>
            <a:endParaRPr lang="en-US" sz="1000" dirty="0"/>
          </a:p>
        </p:txBody>
      </p:sp>
      <p:sp>
        <p:nvSpPr>
          <p:cNvPr id="80" name="Shape 72"/>
          <p:cNvSpPr/>
          <p:nvPr/>
        </p:nvSpPr>
        <p:spPr>
          <a:xfrm>
            <a:off x="6025896" y="3250692"/>
            <a:ext cx="2624328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1" name="Text 73"/>
          <p:cNvSpPr txBox="1"/>
          <p:nvPr/>
        </p:nvSpPr>
        <p:spPr>
          <a:xfrm>
            <a:off x="8860536" y="297637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</a:t>
            </a:r>
            <a:endParaRPr lang="en-US" sz="950" dirty="0"/>
          </a:p>
        </p:txBody>
      </p:sp>
      <p:sp>
        <p:nvSpPr>
          <p:cNvPr id="82" name="Text 74"/>
          <p:cNvSpPr txBox="1"/>
          <p:nvPr/>
        </p:nvSpPr>
        <p:spPr>
          <a:xfrm>
            <a:off x="10735056" y="297637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13/15</a:t>
            </a:r>
            <a:endParaRPr lang="en-US" sz="1000" dirty="0"/>
          </a:p>
        </p:txBody>
      </p:sp>
      <p:sp>
        <p:nvSpPr>
          <p:cNvPr id="83" name="Shape 75"/>
          <p:cNvSpPr/>
          <p:nvPr/>
        </p:nvSpPr>
        <p:spPr>
          <a:xfrm>
            <a:off x="8860536" y="3250692"/>
            <a:ext cx="2624328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4" name="Text 76"/>
          <p:cNvSpPr txBox="1"/>
          <p:nvPr/>
        </p:nvSpPr>
        <p:spPr>
          <a:xfrm>
            <a:off x="6025896" y="328269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</a:t>
            </a:r>
            <a:endParaRPr lang="en-US" sz="950" dirty="0"/>
          </a:p>
        </p:txBody>
      </p:sp>
      <p:sp>
        <p:nvSpPr>
          <p:cNvPr id="85" name="Text 77"/>
          <p:cNvSpPr txBox="1"/>
          <p:nvPr/>
        </p:nvSpPr>
        <p:spPr>
          <a:xfrm>
            <a:off x="7900416" y="328269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1000" dirty="0"/>
          </a:p>
        </p:txBody>
      </p:sp>
      <p:sp>
        <p:nvSpPr>
          <p:cNvPr id="86" name="Shape 78"/>
          <p:cNvSpPr/>
          <p:nvPr/>
        </p:nvSpPr>
        <p:spPr>
          <a:xfrm>
            <a:off x="6025896" y="3557016"/>
            <a:ext cx="2624328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7" name="Text 79"/>
          <p:cNvSpPr txBox="1"/>
          <p:nvPr/>
        </p:nvSpPr>
        <p:spPr>
          <a:xfrm>
            <a:off x="8860536" y="328269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950" dirty="0"/>
          </a:p>
        </p:txBody>
      </p:sp>
      <p:sp>
        <p:nvSpPr>
          <p:cNvPr id="88" name="Text 80"/>
          <p:cNvSpPr txBox="1"/>
          <p:nvPr/>
        </p:nvSpPr>
        <p:spPr>
          <a:xfrm>
            <a:off x="10735056" y="328269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1000" dirty="0"/>
          </a:p>
        </p:txBody>
      </p:sp>
      <p:sp>
        <p:nvSpPr>
          <p:cNvPr id="89" name="Shape 81"/>
          <p:cNvSpPr/>
          <p:nvPr/>
        </p:nvSpPr>
        <p:spPr>
          <a:xfrm>
            <a:off x="8860536" y="3557016"/>
            <a:ext cx="2624328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0" name="Text 82"/>
          <p:cNvSpPr txBox="1"/>
          <p:nvPr/>
        </p:nvSpPr>
        <p:spPr>
          <a:xfrm>
            <a:off x="6025896" y="358902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Quality</a:t>
            </a:r>
            <a:endParaRPr lang="en-US" sz="950" dirty="0"/>
          </a:p>
        </p:txBody>
      </p:sp>
      <p:sp>
        <p:nvSpPr>
          <p:cNvPr id="91" name="Text 83"/>
          <p:cNvSpPr txBox="1"/>
          <p:nvPr/>
        </p:nvSpPr>
        <p:spPr>
          <a:xfrm>
            <a:off x="7900416" y="358902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1000" dirty="0"/>
          </a:p>
        </p:txBody>
      </p:sp>
      <p:sp>
        <p:nvSpPr>
          <p:cNvPr id="92" name="Shape 84"/>
          <p:cNvSpPr/>
          <p:nvPr/>
        </p:nvSpPr>
        <p:spPr>
          <a:xfrm>
            <a:off x="6025896" y="3863340"/>
            <a:ext cx="2624328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3" name="Shape 85"/>
          <p:cNvSpPr/>
          <p:nvPr/>
        </p:nvSpPr>
        <p:spPr>
          <a:xfrm>
            <a:off x="6025896" y="4206240"/>
            <a:ext cx="1697736" cy="786384"/>
          </a:xfrm>
          <a:prstGeom prst="roundRect">
            <a:avLst>
              <a:gd name="adj" fmla="val 81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3912" y="4325112"/>
            <a:ext cx="173736" cy="173736"/>
          </a:xfrm>
          <a:prstGeom prst="rect">
            <a:avLst/>
          </a:prstGeom>
        </p:spPr>
      </p:pic>
      <p:sp>
        <p:nvSpPr>
          <p:cNvPr id="95" name="Text 86"/>
          <p:cNvSpPr txBox="1"/>
          <p:nvPr/>
        </p:nvSpPr>
        <p:spPr>
          <a:xfrm>
            <a:off x="6373368" y="4297680"/>
            <a:ext cx="1240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950" dirty="0"/>
          </a:p>
        </p:txBody>
      </p:sp>
      <p:sp>
        <p:nvSpPr>
          <p:cNvPr id="96" name="Text 87"/>
          <p:cNvSpPr txBox="1"/>
          <p:nvPr/>
        </p:nvSpPr>
        <p:spPr>
          <a:xfrm>
            <a:off x="6153912" y="4535424"/>
            <a:ext cx="1441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problem framing, working end-to-end prototype.</a:t>
            </a:r>
            <a:endParaRPr lang="en-US" sz="900" dirty="0"/>
          </a:p>
        </p:txBody>
      </p:sp>
      <p:sp>
        <p:nvSpPr>
          <p:cNvPr id="97" name="Shape 88"/>
          <p:cNvSpPr/>
          <p:nvPr/>
        </p:nvSpPr>
        <p:spPr>
          <a:xfrm>
            <a:off x="7888224" y="4206240"/>
            <a:ext cx="1697736" cy="786384"/>
          </a:xfrm>
          <a:prstGeom prst="roundRect">
            <a:avLst>
              <a:gd name="adj" fmla="val 81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6240" y="4325112"/>
            <a:ext cx="173736" cy="173736"/>
          </a:xfrm>
          <a:prstGeom prst="rect">
            <a:avLst/>
          </a:prstGeom>
        </p:spPr>
      </p:pic>
      <p:sp>
        <p:nvSpPr>
          <p:cNvPr id="99" name="Text 89"/>
          <p:cNvSpPr txBox="1"/>
          <p:nvPr/>
        </p:nvSpPr>
        <p:spPr>
          <a:xfrm>
            <a:off x="8235696" y="4297680"/>
            <a:ext cx="1240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950" dirty="0"/>
          </a:p>
        </p:txBody>
      </p:sp>
      <p:sp>
        <p:nvSpPr>
          <p:cNvPr id="100" name="Text 90"/>
          <p:cNvSpPr txBox="1"/>
          <p:nvPr/>
        </p:nvSpPr>
        <p:spPr>
          <a:xfrm>
            <a:off x="8016240" y="4535424"/>
            <a:ext cx="1441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error handling and test coverage.</a:t>
            </a:r>
            <a:endParaRPr lang="en-US" sz="900" dirty="0"/>
          </a:p>
        </p:txBody>
      </p:sp>
      <p:sp>
        <p:nvSpPr>
          <p:cNvPr id="101" name="Shape 91"/>
          <p:cNvSpPr/>
          <p:nvPr/>
        </p:nvSpPr>
        <p:spPr>
          <a:xfrm>
            <a:off x="9750552" y="4206240"/>
            <a:ext cx="1697736" cy="786384"/>
          </a:xfrm>
          <a:prstGeom prst="roundRect">
            <a:avLst>
              <a:gd name="adj" fmla="val 81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78568" y="4325112"/>
            <a:ext cx="173736" cy="173736"/>
          </a:xfrm>
          <a:prstGeom prst="rect">
            <a:avLst/>
          </a:prstGeom>
        </p:spPr>
      </p:pic>
      <p:sp>
        <p:nvSpPr>
          <p:cNvPr id="103" name="Text 92"/>
          <p:cNvSpPr txBox="1"/>
          <p:nvPr/>
        </p:nvSpPr>
        <p:spPr>
          <a:xfrm>
            <a:off x="10098024" y="4297680"/>
            <a:ext cx="1240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Analysis</a:t>
            </a:r>
            <a:endParaRPr lang="en-US" sz="950" dirty="0"/>
          </a:p>
        </p:txBody>
      </p:sp>
      <p:sp>
        <p:nvSpPr>
          <p:cNvPr id="104" name="Text 93"/>
          <p:cNvSpPr txBox="1"/>
          <p:nvPr/>
        </p:nvSpPr>
        <p:spPr>
          <a:xfrm>
            <a:off x="9878568" y="4535424"/>
            <a:ext cx="1441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architecture, clean API separation.</a:t>
            </a:r>
            <a:endParaRPr lang="en-US" sz="900" dirty="0"/>
          </a:p>
        </p:txBody>
      </p:sp>
      <p:sp>
        <p:nvSpPr>
          <p:cNvPr id="105" name="Shape 94"/>
          <p:cNvSpPr/>
          <p:nvPr/>
        </p:nvSpPr>
        <p:spPr>
          <a:xfrm>
            <a:off x="6025896" y="5065776"/>
            <a:ext cx="1697736" cy="786384"/>
          </a:xfrm>
          <a:prstGeom prst="roundRect">
            <a:avLst>
              <a:gd name="adj" fmla="val 81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53912" y="5184648"/>
            <a:ext cx="173736" cy="173736"/>
          </a:xfrm>
          <a:prstGeom prst="rect">
            <a:avLst/>
          </a:prstGeom>
        </p:spPr>
      </p:pic>
      <p:sp>
        <p:nvSpPr>
          <p:cNvPr id="107" name="Text 95"/>
          <p:cNvSpPr txBox="1"/>
          <p:nvPr/>
        </p:nvSpPr>
        <p:spPr>
          <a:xfrm>
            <a:off x="6373368" y="5157216"/>
            <a:ext cx="1240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Analysis</a:t>
            </a:r>
            <a:endParaRPr lang="en-US" sz="950" dirty="0"/>
          </a:p>
        </p:txBody>
      </p:sp>
      <p:sp>
        <p:nvSpPr>
          <p:cNvPr id="108" name="Text 96"/>
          <p:cNvSpPr txBox="1"/>
          <p:nvPr/>
        </p:nvSpPr>
        <p:spPr>
          <a:xfrm>
            <a:off x="6153912" y="5394960"/>
            <a:ext cx="1441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present; API reference incomplete.</a:t>
            </a:r>
            <a:endParaRPr lang="en-US" sz="900" dirty="0"/>
          </a:p>
        </p:txBody>
      </p:sp>
      <p:sp>
        <p:nvSpPr>
          <p:cNvPr id="109" name="Shape 97"/>
          <p:cNvSpPr/>
          <p:nvPr/>
        </p:nvSpPr>
        <p:spPr>
          <a:xfrm>
            <a:off x="7888224" y="5065776"/>
            <a:ext cx="1697736" cy="786384"/>
          </a:xfrm>
          <a:prstGeom prst="roundRect">
            <a:avLst>
              <a:gd name="adj" fmla="val 81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1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16240" y="5184648"/>
            <a:ext cx="173736" cy="173736"/>
          </a:xfrm>
          <a:prstGeom prst="rect">
            <a:avLst/>
          </a:prstGeom>
        </p:spPr>
      </p:pic>
      <p:sp>
        <p:nvSpPr>
          <p:cNvPr id="111" name="Text 98"/>
          <p:cNvSpPr txBox="1"/>
          <p:nvPr/>
        </p:nvSpPr>
        <p:spPr>
          <a:xfrm>
            <a:off x="8235696" y="5157216"/>
            <a:ext cx="1240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Analysis</a:t>
            </a:r>
            <a:endParaRPr lang="en-US" sz="950" dirty="0"/>
          </a:p>
        </p:txBody>
      </p:sp>
      <p:sp>
        <p:nvSpPr>
          <p:cNvPr id="112" name="Text 99"/>
          <p:cNvSpPr txBox="1"/>
          <p:nvPr/>
        </p:nvSpPr>
        <p:spPr>
          <a:xfrm>
            <a:off x="8016240" y="5394960"/>
            <a:ext cx="1441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naming, some duplicated logic.</a:t>
            </a:r>
            <a:endParaRPr lang="en-US" sz="900" dirty="0"/>
          </a:p>
        </p:txBody>
      </p:sp>
      <p:sp>
        <p:nvSpPr>
          <p:cNvPr id="113" name="Shape 100"/>
          <p:cNvSpPr/>
          <p:nvPr/>
        </p:nvSpPr>
        <p:spPr>
          <a:xfrm>
            <a:off x="9750552" y="5065776"/>
            <a:ext cx="1697736" cy="786384"/>
          </a:xfrm>
          <a:prstGeom prst="roundRect">
            <a:avLst>
              <a:gd name="adj" fmla="val 81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1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78568" y="5184648"/>
            <a:ext cx="173736" cy="173736"/>
          </a:xfrm>
          <a:prstGeom prst="rect">
            <a:avLst/>
          </a:prstGeom>
        </p:spPr>
      </p:pic>
      <p:sp>
        <p:nvSpPr>
          <p:cNvPr id="115" name="Text 101"/>
          <p:cNvSpPr txBox="1"/>
          <p:nvPr/>
        </p:nvSpPr>
        <p:spPr>
          <a:xfrm>
            <a:off x="10098024" y="5157216"/>
            <a:ext cx="1240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Suggestions</a:t>
            </a:r>
            <a:endParaRPr lang="en-US" sz="950" dirty="0"/>
          </a:p>
        </p:txBody>
      </p:sp>
      <p:sp>
        <p:nvSpPr>
          <p:cNvPr id="116" name="Text 102"/>
          <p:cNvSpPr txBox="1"/>
          <p:nvPr/>
        </p:nvSpPr>
        <p:spPr>
          <a:xfrm>
            <a:off x="9878568" y="5394960"/>
            <a:ext cx="1441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unit tests, input validation and CI pipeline.</a:t>
            </a:r>
            <a:endParaRPr lang="en-US" sz="900" dirty="0"/>
          </a:p>
        </p:txBody>
      </p:sp>
      <p:sp>
        <p:nvSpPr>
          <p:cNvPr id="117" name="Text 103"/>
          <p:cNvSpPr txBox="1"/>
          <p:nvPr/>
        </p:nvSpPr>
        <p:spPr>
          <a:xfrm>
            <a:off x="6025896" y="396849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850" dirty="0"/>
          </a:p>
        </p:txBody>
      </p:sp>
      <p:sp>
        <p:nvSpPr>
          <p:cNvPr id="118" name="Shape 104"/>
          <p:cNvSpPr/>
          <p:nvPr/>
        </p:nvSpPr>
        <p:spPr>
          <a:xfrm>
            <a:off x="6025896" y="5961888"/>
            <a:ext cx="5422392" cy="365760"/>
          </a:xfrm>
          <a:prstGeom prst="roundRect">
            <a:avLst>
              <a:gd name="adj" fmla="val 17500"/>
            </a:avLst>
          </a:prstGeom>
          <a:solidFill>
            <a:srgbClr val="EEF2FF"/>
          </a:solidFill>
          <a:ln w="12700">
            <a:solidFill>
              <a:srgbClr val="DDE3FF"/>
            </a:solidFill>
            <a:prstDash val="solid"/>
          </a:ln>
        </p:spPr>
      </p:sp>
      <p:sp>
        <p:nvSpPr>
          <p:cNvPr id="119" name="Text 105"/>
          <p:cNvSpPr txBox="1"/>
          <p:nvPr/>
        </p:nvSpPr>
        <p:spPr>
          <a:xfrm>
            <a:off x="6172200" y="59618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PRIORITY</a:t>
            </a:r>
            <a:endParaRPr lang="en-US" sz="850" dirty="0"/>
          </a:p>
        </p:txBody>
      </p:sp>
      <p:sp>
        <p:nvSpPr>
          <p:cNvPr id="120" name="Text 106"/>
          <p:cNvSpPr txBox="1"/>
          <p:nvPr/>
        </p:nvSpPr>
        <p:spPr>
          <a:xfrm>
            <a:off x="7799832" y="5961888"/>
            <a:ext cx="3557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Testing   →   2. Documentation   →   3. Error Handling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38328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9848" y="365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02 &amp; 03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1042416" y="566928"/>
            <a:ext cx="10515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Team &amp; Classroom Management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188720"/>
            <a:ext cx="1783080" cy="256032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118872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MANAGEMENT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2920" y="1572768"/>
            <a:ext cx="5394960" cy="356616"/>
          </a:xfrm>
          <a:prstGeom prst="roundRect">
            <a:avLst>
              <a:gd name="adj" fmla="val 1794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641348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78408" y="1572768"/>
            <a:ext cx="4773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3200400" y="1938528"/>
            <a:ext cx="0" cy="64008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502920" y="2007108"/>
            <a:ext cx="5394960" cy="356616"/>
          </a:xfrm>
          <a:prstGeom prst="roundRect">
            <a:avLst>
              <a:gd name="adj" fmla="val 1794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075688"/>
            <a:ext cx="219456" cy="219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78408" y="2007108"/>
            <a:ext cx="4773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User ID  ·  PRV-10482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3200400" y="2372868"/>
            <a:ext cx="0" cy="64008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5" name="Shape 10"/>
          <p:cNvSpPr/>
          <p:nvPr/>
        </p:nvSpPr>
        <p:spPr>
          <a:xfrm>
            <a:off x="502920" y="2441448"/>
            <a:ext cx="5394960" cy="356616"/>
          </a:xfrm>
          <a:prstGeom prst="roundRect">
            <a:avLst>
              <a:gd name="adj" fmla="val 1794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2510028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78408" y="2441448"/>
            <a:ext cx="4773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Team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3200400" y="2807208"/>
            <a:ext cx="0" cy="64008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9" name="Shape 13"/>
          <p:cNvSpPr/>
          <p:nvPr/>
        </p:nvSpPr>
        <p:spPr>
          <a:xfrm>
            <a:off x="502920" y="2875788"/>
            <a:ext cx="5394960" cy="356616"/>
          </a:xfrm>
          <a:prstGeom prst="roundRect">
            <a:avLst>
              <a:gd name="adj" fmla="val 1794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2944368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78408" y="2875788"/>
            <a:ext cx="4773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 enters User ID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3200400" y="3241548"/>
            <a:ext cx="0" cy="64008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3" name="Shape 16"/>
          <p:cNvSpPr/>
          <p:nvPr/>
        </p:nvSpPr>
        <p:spPr>
          <a:xfrm>
            <a:off x="502920" y="3310128"/>
            <a:ext cx="5394960" cy="356616"/>
          </a:xfrm>
          <a:prstGeom prst="roundRect">
            <a:avLst>
              <a:gd name="adj" fmla="val 1794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3378708"/>
            <a:ext cx="219456" cy="219456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978408" y="3310128"/>
            <a:ext cx="4773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 Sent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3200400" y="3675888"/>
            <a:ext cx="0" cy="64008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7" name="Shape 19"/>
          <p:cNvSpPr/>
          <p:nvPr/>
        </p:nvSpPr>
        <p:spPr>
          <a:xfrm>
            <a:off x="502920" y="3744468"/>
            <a:ext cx="5394960" cy="356616"/>
          </a:xfrm>
          <a:prstGeom prst="roundRect">
            <a:avLst>
              <a:gd name="adj" fmla="val 1794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3813048"/>
            <a:ext cx="219456" cy="219456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978408" y="3744468"/>
            <a:ext cx="4773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Notification</a:t>
            </a:r>
            <a:endParaRPr lang="en-US" sz="1150" dirty="0"/>
          </a:p>
        </p:txBody>
      </p:sp>
      <p:sp>
        <p:nvSpPr>
          <p:cNvPr id="30" name="Shape 21"/>
          <p:cNvSpPr/>
          <p:nvPr/>
        </p:nvSpPr>
        <p:spPr>
          <a:xfrm>
            <a:off x="3200400" y="4110228"/>
            <a:ext cx="0" cy="64008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31" name="Shape 22"/>
          <p:cNvSpPr/>
          <p:nvPr/>
        </p:nvSpPr>
        <p:spPr>
          <a:xfrm>
            <a:off x="502920" y="4178808"/>
            <a:ext cx="5394960" cy="356616"/>
          </a:xfrm>
          <a:prstGeom prst="roundRect">
            <a:avLst>
              <a:gd name="adj" fmla="val 1794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" y="4247388"/>
            <a:ext cx="219456" cy="219456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978408" y="4178808"/>
            <a:ext cx="4773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/ Reject</a:t>
            </a:r>
            <a:endParaRPr lang="en-US" sz="1150" dirty="0"/>
          </a:p>
        </p:txBody>
      </p:sp>
      <p:sp>
        <p:nvSpPr>
          <p:cNvPr id="34" name="Shape 24"/>
          <p:cNvSpPr/>
          <p:nvPr/>
        </p:nvSpPr>
        <p:spPr>
          <a:xfrm>
            <a:off x="3200400" y="4544568"/>
            <a:ext cx="0" cy="64008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35" name="Shape 25"/>
          <p:cNvSpPr/>
          <p:nvPr/>
        </p:nvSpPr>
        <p:spPr>
          <a:xfrm>
            <a:off x="502920" y="4613148"/>
            <a:ext cx="5394960" cy="356616"/>
          </a:xfrm>
          <a:prstGeom prst="roundRect">
            <a:avLst>
              <a:gd name="adj" fmla="val 17949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" y="4681728"/>
            <a:ext cx="219456" cy="219456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978408" y="4613148"/>
            <a:ext cx="4773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Membership</a:t>
            </a:r>
            <a:endParaRPr lang="en-US" sz="1150" dirty="0"/>
          </a:p>
        </p:txBody>
      </p:sp>
      <p:sp>
        <p:nvSpPr>
          <p:cNvPr id="38" name="Shape 27"/>
          <p:cNvSpPr/>
          <p:nvPr/>
        </p:nvSpPr>
        <p:spPr>
          <a:xfrm>
            <a:off x="502920" y="5193792"/>
            <a:ext cx="5394960" cy="1225296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39" name="Text 28"/>
          <p:cNvSpPr txBox="1"/>
          <p:nvPr/>
        </p:nvSpPr>
        <p:spPr>
          <a:xfrm>
            <a:off x="722376" y="534009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FEATURES</a:t>
            </a:r>
            <a:endParaRPr lang="en-US" sz="900" dirty="0"/>
          </a:p>
        </p:txBody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2376" y="5605272"/>
            <a:ext cx="146304" cy="146304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941832" y="55778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&amp; Logo</a:t>
            </a:r>
            <a:endParaRPr lang="en-US" sz="950" dirty="0"/>
          </a:p>
        </p:txBody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82696" y="5605272"/>
            <a:ext cx="146304" cy="146304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3502152" y="55778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Team Size</a:t>
            </a:r>
            <a:endParaRPr lang="en-US" sz="950" dirty="0"/>
          </a:p>
        </p:txBody>
      </p:sp>
      <p:pic>
        <p:nvPicPr>
          <p:cNvPr id="4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2376" y="5806440"/>
            <a:ext cx="146304" cy="146304"/>
          </a:xfrm>
          <a:prstGeom prst="rect">
            <a:avLst/>
          </a:prstGeom>
        </p:spPr>
      </p:pic>
      <p:sp>
        <p:nvSpPr>
          <p:cNvPr id="45" name="Text 31"/>
          <p:cNvSpPr txBox="1"/>
          <p:nvPr/>
        </p:nvSpPr>
        <p:spPr>
          <a:xfrm>
            <a:off x="941832" y="57790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Team Code</a:t>
            </a:r>
            <a:endParaRPr lang="en-US" sz="950" dirty="0"/>
          </a:p>
        </p:txBody>
      </p:sp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82696" y="5806440"/>
            <a:ext cx="146304" cy="146304"/>
          </a:xfrm>
          <a:prstGeom prst="rect">
            <a:avLst/>
          </a:prstGeom>
        </p:spPr>
      </p:pic>
      <p:sp>
        <p:nvSpPr>
          <p:cNvPr id="47" name="Text 32"/>
          <p:cNvSpPr txBox="1"/>
          <p:nvPr/>
        </p:nvSpPr>
        <p:spPr>
          <a:xfrm>
            <a:off x="3502152" y="57790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 &amp; Members</a:t>
            </a:r>
            <a:endParaRPr lang="en-US" sz="950" dirty="0"/>
          </a:p>
        </p:txBody>
      </p:sp>
      <p:pic>
        <p:nvPicPr>
          <p:cNvPr id="4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2376" y="6007608"/>
            <a:ext cx="146304" cy="146304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941832" y="59801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Member</a:t>
            </a:r>
            <a:endParaRPr lang="en-US" sz="950" dirty="0"/>
          </a:p>
        </p:txBody>
      </p:sp>
      <p:pic>
        <p:nvPicPr>
          <p:cNvPr id="5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82696" y="6007608"/>
            <a:ext cx="146304" cy="146304"/>
          </a:xfrm>
          <a:prstGeom prst="rect">
            <a:avLst/>
          </a:prstGeom>
        </p:spPr>
      </p:pic>
      <p:sp>
        <p:nvSpPr>
          <p:cNvPr id="51" name="Text 34"/>
          <p:cNvSpPr txBox="1"/>
          <p:nvPr/>
        </p:nvSpPr>
        <p:spPr>
          <a:xfrm>
            <a:off x="3502152" y="59801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Team</a:t>
            </a:r>
            <a:endParaRPr lang="en-US" sz="950" dirty="0"/>
          </a:p>
        </p:txBody>
      </p:sp>
      <p:pic>
        <p:nvPicPr>
          <p:cNvPr id="5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2376" y="6208776"/>
            <a:ext cx="146304" cy="146304"/>
          </a:xfrm>
          <a:prstGeom prst="rect">
            <a:avLst/>
          </a:prstGeom>
        </p:spPr>
      </p:pic>
      <p:sp>
        <p:nvSpPr>
          <p:cNvPr id="53" name="Text 35"/>
          <p:cNvSpPr txBox="1"/>
          <p:nvPr/>
        </p:nvSpPr>
        <p:spPr>
          <a:xfrm>
            <a:off x="941832" y="61813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Captain</a:t>
            </a:r>
            <a:endParaRPr lang="en-US" sz="950" dirty="0"/>
          </a:p>
        </p:txBody>
      </p:sp>
      <p:pic>
        <p:nvPicPr>
          <p:cNvPr id="5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82696" y="6208776"/>
            <a:ext cx="146304" cy="146304"/>
          </a:xfrm>
          <a:prstGeom prst="rect">
            <a:avLst/>
          </a:prstGeom>
        </p:spPr>
      </p:pic>
      <p:sp>
        <p:nvSpPr>
          <p:cNvPr id="55" name="Text 36"/>
          <p:cNvSpPr txBox="1"/>
          <p:nvPr/>
        </p:nvSpPr>
        <p:spPr>
          <a:xfrm>
            <a:off x="3502152" y="61813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Across Classrooms</a:t>
            </a:r>
            <a:endParaRPr lang="en-US" sz="950" dirty="0"/>
          </a:p>
        </p:txBody>
      </p:sp>
      <p:sp>
        <p:nvSpPr>
          <p:cNvPr id="56" name="Shape 37"/>
          <p:cNvSpPr/>
          <p:nvPr/>
        </p:nvSpPr>
        <p:spPr>
          <a:xfrm>
            <a:off x="6291072" y="1188720"/>
            <a:ext cx="1234440" cy="256032"/>
          </a:xfrm>
          <a:prstGeom prst="roundRect">
            <a:avLst>
              <a:gd name="adj" fmla="val 250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57" name="Text 38"/>
          <p:cNvSpPr txBox="1"/>
          <p:nvPr/>
        </p:nvSpPr>
        <p:spPr>
          <a:xfrm>
            <a:off x="6291072" y="11887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</a:t>
            </a:r>
            <a:endParaRPr lang="en-US" sz="850" dirty="0"/>
          </a:p>
        </p:txBody>
      </p:sp>
      <p:sp>
        <p:nvSpPr>
          <p:cNvPr id="58" name="Shape 39"/>
          <p:cNvSpPr/>
          <p:nvPr/>
        </p:nvSpPr>
        <p:spPr>
          <a:xfrm>
            <a:off x="6291072" y="1572768"/>
            <a:ext cx="5394960" cy="438912"/>
          </a:xfrm>
          <a:prstGeom prst="roundRect">
            <a:avLst>
              <a:gd name="adj" fmla="val 1458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37376" y="1682496"/>
            <a:ext cx="219456" cy="219456"/>
          </a:xfrm>
          <a:prstGeom prst="rect">
            <a:avLst/>
          </a:prstGeom>
        </p:spPr>
      </p:pic>
      <p:sp>
        <p:nvSpPr>
          <p:cNvPr id="60" name="Text 40"/>
          <p:cNvSpPr txBox="1"/>
          <p:nvPr/>
        </p:nvSpPr>
        <p:spPr>
          <a:xfrm>
            <a:off x="6766560" y="1572768"/>
            <a:ext cx="4773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Classroom</a:t>
            </a:r>
            <a:endParaRPr lang="en-US" sz="1150" dirty="0"/>
          </a:p>
        </p:txBody>
      </p:sp>
      <p:sp>
        <p:nvSpPr>
          <p:cNvPr id="61" name="Shape 41"/>
          <p:cNvSpPr/>
          <p:nvPr/>
        </p:nvSpPr>
        <p:spPr>
          <a:xfrm>
            <a:off x="8988552" y="2020824"/>
            <a:ext cx="0" cy="73152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62" name="Shape 42"/>
          <p:cNvSpPr/>
          <p:nvPr/>
        </p:nvSpPr>
        <p:spPr>
          <a:xfrm>
            <a:off x="6291072" y="2107692"/>
            <a:ext cx="5394960" cy="438912"/>
          </a:xfrm>
          <a:prstGeom prst="roundRect">
            <a:avLst>
              <a:gd name="adj" fmla="val 1458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37376" y="2217420"/>
            <a:ext cx="219456" cy="219456"/>
          </a:xfrm>
          <a:prstGeom prst="rect">
            <a:avLst/>
          </a:prstGeom>
        </p:spPr>
      </p:pic>
      <p:sp>
        <p:nvSpPr>
          <p:cNvPr id="64" name="Text 43"/>
          <p:cNvSpPr txBox="1"/>
          <p:nvPr/>
        </p:nvSpPr>
        <p:spPr>
          <a:xfrm>
            <a:off x="6766560" y="2107692"/>
            <a:ext cx="4773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Submission Requirements</a:t>
            </a:r>
            <a:endParaRPr lang="en-US" sz="1150" dirty="0"/>
          </a:p>
        </p:txBody>
      </p:sp>
      <p:sp>
        <p:nvSpPr>
          <p:cNvPr id="65" name="Shape 44"/>
          <p:cNvSpPr/>
          <p:nvPr/>
        </p:nvSpPr>
        <p:spPr>
          <a:xfrm>
            <a:off x="8988552" y="2555748"/>
            <a:ext cx="0" cy="73152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66" name="Shape 45"/>
          <p:cNvSpPr/>
          <p:nvPr/>
        </p:nvSpPr>
        <p:spPr>
          <a:xfrm>
            <a:off x="6291072" y="2642616"/>
            <a:ext cx="5394960" cy="438912"/>
          </a:xfrm>
          <a:prstGeom prst="roundRect">
            <a:avLst>
              <a:gd name="adj" fmla="val 1458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67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37376" y="2752344"/>
            <a:ext cx="219456" cy="219456"/>
          </a:xfrm>
          <a:prstGeom prst="rect">
            <a:avLst/>
          </a:prstGeom>
        </p:spPr>
      </p:pic>
      <p:sp>
        <p:nvSpPr>
          <p:cNvPr id="68" name="Text 46"/>
          <p:cNvSpPr txBox="1"/>
          <p:nvPr/>
        </p:nvSpPr>
        <p:spPr>
          <a:xfrm>
            <a:off x="6766560" y="2642616"/>
            <a:ext cx="4773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Users / Teams / Faculty-Coordinator</a:t>
            </a:r>
            <a:endParaRPr lang="en-US" sz="1150" dirty="0"/>
          </a:p>
        </p:txBody>
      </p:sp>
      <p:sp>
        <p:nvSpPr>
          <p:cNvPr id="69" name="Shape 47"/>
          <p:cNvSpPr/>
          <p:nvPr/>
        </p:nvSpPr>
        <p:spPr>
          <a:xfrm>
            <a:off x="8988552" y="3090672"/>
            <a:ext cx="0" cy="73152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70" name="Shape 48"/>
          <p:cNvSpPr/>
          <p:nvPr/>
        </p:nvSpPr>
        <p:spPr>
          <a:xfrm>
            <a:off x="6291072" y="3177540"/>
            <a:ext cx="5394960" cy="438912"/>
          </a:xfrm>
          <a:prstGeom prst="roundRect">
            <a:avLst>
              <a:gd name="adj" fmla="val 1458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37376" y="3287268"/>
            <a:ext cx="219456" cy="219456"/>
          </a:xfrm>
          <a:prstGeom prst="rect">
            <a:avLst/>
          </a:prstGeom>
        </p:spPr>
      </p:pic>
      <p:sp>
        <p:nvSpPr>
          <p:cNvPr id="72" name="Text 49"/>
          <p:cNvSpPr txBox="1"/>
          <p:nvPr/>
        </p:nvSpPr>
        <p:spPr>
          <a:xfrm>
            <a:off x="6766560" y="3177540"/>
            <a:ext cx="4773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or Team Mode</a:t>
            </a:r>
            <a:endParaRPr lang="en-US" sz="1150" dirty="0"/>
          </a:p>
        </p:txBody>
      </p:sp>
      <p:sp>
        <p:nvSpPr>
          <p:cNvPr id="73" name="Shape 50"/>
          <p:cNvSpPr/>
          <p:nvPr/>
        </p:nvSpPr>
        <p:spPr>
          <a:xfrm>
            <a:off x="8988552" y="3625596"/>
            <a:ext cx="0" cy="73152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74" name="Shape 51"/>
          <p:cNvSpPr/>
          <p:nvPr/>
        </p:nvSpPr>
        <p:spPr>
          <a:xfrm>
            <a:off x="6291072" y="3712464"/>
            <a:ext cx="5394960" cy="438912"/>
          </a:xfrm>
          <a:prstGeom prst="roundRect">
            <a:avLst>
              <a:gd name="adj" fmla="val 1458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5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37376" y="3822192"/>
            <a:ext cx="219456" cy="219456"/>
          </a:xfrm>
          <a:prstGeom prst="rect">
            <a:avLst/>
          </a:prstGeom>
        </p:spPr>
      </p:pic>
      <p:sp>
        <p:nvSpPr>
          <p:cNvPr id="76" name="Text 52"/>
          <p:cNvSpPr txBox="1"/>
          <p:nvPr/>
        </p:nvSpPr>
        <p:spPr>
          <a:xfrm>
            <a:off x="6766560" y="3712464"/>
            <a:ext cx="4773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150" dirty="0"/>
          </a:p>
        </p:txBody>
      </p:sp>
      <p:sp>
        <p:nvSpPr>
          <p:cNvPr id="77" name="Shape 53"/>
          <p:cNvSpPr/>
          <p:nvPr/>
        </p:nvSpPr>
        <p:spPr>
          <a:xfrm>
            <a:off x="8988552" y="4160520"/>
            <a:ext cx="0" cy="73152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78" name="Shape 54"/>
          <p:cNvSpPr/>
          <p:nvPr/>
        </p:nvSpPr>
        <p:spPr>
          <a:xfrm>
            <a:off x="6291072" y="4247388"/>
            <a:ext cx="5394960" cy="438912"/>
          </a:xfrm>
          <a:prstGeom prst="roundRect">
            <a:avLst>
              <a:gd name="adj" fmla="val 14583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9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37376" y="4357116"/>
            <a:ext cx="219456" cy="219456"/>
          </a:xfrm>
          <a:prstGeom prst="rect">
            <a:avLst/>
          </a:prstGeom>
        </p:spPr>
      </p:pic>
      <p:sp>
        <p:nvSpPr>
          <p:cNvPr id="80" name="Text 55"/>
          <p:cNvSpPr txBox="1"/>
          <p:nvPr/>
        </p:nvSpPr>
        <p:spPr>
          <a:xfrm>
            <a:off x="6766560" y="4247388"/>
            <a:ext cx="4773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81" name="Shape 56"/>
          <p:cNvSpPr/>
          <p:nvPr/>
        </p:nvSpPr>
        <p:spPr>
          <a:xfrm>
            <a:off x="6291072" y="4773168"/>
            <a:ext cx="5394960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pic>
        <p:nvPicPr>
          <p:cNvPr id="82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10528" y="4937760"/>
            <a:ext cx="201168" cy="201168"/>
          </a:xfrm>
          <a:prstGeom prst="rect">
            <a:avLst/>
          </a:prstGeom>
        </p:spPr>
      </p:pic>
      <p:sp>
        <p:nvSpPr>
          <p:cNvPr id="83" name="Text 57"/>
          <p:cNvSpPr txBox="1"/>
          <p:nvPr/>
        </p:nvSpPr>
        <p:spPr>
          <a:xfrm>
            <a:off x="6803136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&amp; ACCESS MODEL</a:t>
            </a:r>
            <a:endParaRPr lang="en-US" sz="900" dirty="0"/>
          </a:p>
        </p:txBody>
      </p:sp>
      <p:sp>
        <p:nvSpPr>
          <p:cNvPr id="84" name="Shape 58"/>
          <p:cNvSpPr/>
          <p:nvPr/>
        </p:nvSpPr>
        <p:spPr>
          <a:xfrm>
            <a:off x="6510528" y="5230368"/>
            <a:ext cx="4956048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5" name="Shape 59"/>
          <p:cNvSpPr/>
          <p:nvPr/>
        </p:nvSpPr>
        <p:spPr>
          <a:xfrm>
            <a:off x="6528816" y="5394960"/>
            <a:ext cx="64008" cy="640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6" name="Text 60"/>
          <p:cNvSpPr txBox="1"/>
          <p:nvPr/>
        </p:nvSpPr>
        <p:spPr>
          <a:xfrm>
            <a:off x="6711696" y="5303520"/>
            <a:ext cx="4736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User can create a classroom — the creator becomes Owner/Admin for that classroom only.</a:t>
            </a:r>
            <a:endParaRPr lang="en-US" sz="950" dirty="0"/>
          </a:p>
        </p:txBody>
      </p:sp>
      <p:sp>
        <p:nvSpPr>
          <p:cNvPr id="87" name="Shape 61"/>
          <p:cNvSpPr/>
          <p:nvPr/>
        </p:nvSpPr>
        <p:spPr>
          <a:xfrm>
            <a:off x="6528816" y="5614416"/>
            <a:ext cx="64008" cy="640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8" name="Text 62"/>
          <p:cNvSpPr txBox="1"/>
          <p:nvPr/>
        </p:nvSpPr>
        <p:spPr>
          <a:xfrm>
            <a:off x="6711696" y="5522976"/>
            <a:ext cx="4736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no permanent global Admin, Faculty, Coordinator or Student accounts — roles are contextual.</a:t>
            </a:r>
            <a:endParaRPr lang="en-US" sz="950" dirty="0"/>
          </a:p>
        </p:txBody>
      </p:sp>
      <p:sp>
        <p:nvSpPr>
          <p:cNvPr id="89" name="Shape 63"/>
          <p:cNvSpPr/>
          <p:nvPr/>
        </p:nvSpPr>
        <p:spPr>
          <a:xfrm>
            <a:off x="6528816" y="5998464"/>
            <a:ext cx="64008" cy="640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0" name="Text 64"/>
          <p:cNvSpPr txBox="1"/>
          <p:nvPr/>
        </p:nvSpPr>
        <p:spPr>
          <a:xfrm>
            <a:off x="6711696" y="5907024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and Coordinator form one combined, optional evaluator role.</a:t>
            </a:r>
            <a:endParaRPr lang="en-US" sz="950" dirty="0"/>
          </a:p>
        </p:txBody>
      </p:sp>
      <p:sp>
        <p:nvSpPr>
          <p:cNvPr id="91" name="Shape 65"/>
          <p:cNvSpPr/>
          <p:nvPr/>
        </p:nvSpPr>
        <p:spPr>
          <a:xfrm>
            <a:off x="6528816" y="6199632"/>
            <a:ext cx="64008" cy="640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2" name="Text 66"/>
          <p:cNvSpPr txBox="1"/>
          <p:nvPr/>
        </p:nvSpPr>
        <p:spPr>
          <a:xfrm>
            <a:off x="6711696" y="6108192"/>
            <a:ext cx="4736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Faculty/Coordinator is assigned, the Classroom Owner performs the evaluation.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38328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9848" y="365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ARCHITECTURE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1042416" y="566928"/>
            <a:ext cx="10515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Classroom Evaluation — 100 Marks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261872"/>
            <a:ext cx="2423160" cy="1609344"/>
          </a:xfrm>
          <a:prstGeom prst="roundRect">
            <a:avLst>
              <a:gd name="adj" fmla="val 39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40664" y="144475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EVALUATION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722376" y="166420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1901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40664" y="2340864"/>
            <a:ext cx="194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analysis of code, report and overall project quality.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2926080" y="184708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429000" y="1261872"/>
            <a:ext cx="2423160" cy="1609344"/>
          </a:xfrm>
          <a:prstGeom prst="roundRect">
            <a:avLst>
              <a:gd name="adj" fmla="val 39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666744" y="144475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+ DEMO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3648456" y="166420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4400" dirty="0"/>
          </a:p>
        </p:txBody>
      </p:sp>
      <p:sp>
        <p:nvSpPr>
          <p:cNvPr id="14" name="Text 11"/>
          <p:cNvSpPr txBox="1"/>
          <p:nvPr/>
        </p:nvSpPr>
        <p:spPr>
          <a:xfrm>
            <a:off x="4617720" y="1901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3666744" y="2340864"/>
            <a:ext cx="194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and live demonstration, evaluated by a human.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5852160" y="184708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6355080" y="1261872"/>
            <a:ext cx="2423160" cy="1609344"/>
          </a:xfrm>
          <a:prstGeom prst="roundRect">
            <a:avLst>
              <a:gd name="adj" fmla="val 39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592824" y="144475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6574536" y="166420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4400" dirty="0"/>
          </a:p>
        </p:txBody>
      </p:sp>
      <p:sp>
        <p:nvSpPr>
          <p:cNvPr id="20" name="Text 17"/>
          <p:cNvSpPr txBox="1"/>
          <p:nvPr/>
        </p:nvSpPr>
        <p:spPr>
          <a:xfrm>
            <a:off x="7543800" y="1901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592824" y="2340864"/>
            <a:ext cx="194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predefined questions × 5 marks each.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8778240" y="184708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2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1261872"/>
            <a:ext cx="2423160" cy="160934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9518904" y="144475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9500616" y="1664208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4400" dirty="0"/>
          </a:p>
        </p:txBody>
      </p:sp>
      <p:sp>
        <p:nvSpPr>
          <p:cNvPr id="26" name="Text 22"/>
          <p:cNvSpPr txBox="1"/>
          <p:nvPr/>
        </p:nvSpPr>
        <p:spPr>
          <a:xfrm>
            <a:off x="10853928" y="1901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9518904" y="2340864"/>
            <a:ext cx="194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CE3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verified classroom score.</a:t>
            </a:r>
            <a:endParaRPr lang="en-US" sz="950" dirty="0"/>
          </a:p>
        </p:txBody>
      </p:sp>
      <p:sp>
        <p:nvSpPr>
          <p:cNvPr id="28" name="Text 24"/>
          <p:cNvSpPr txBox="1"/>
          <p:nvPr/>
        </p:nvSpPr>
        <p:spPr>
          <a:xfrm>
            <a:off x="502920" y="30175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AS A SCORE MODIFIER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502920" y="3255264"/>
            <a:ext cx="1265530" cy="731520"/>
          </a:xfrm>
          <a:prstGeom prst="roundRect">
            <a:avLst>
              <a:gd name="adj" fmla="val 87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57784" y="3255264"/>
            <a:ext cx="115580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Evaluation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1782166" y="3621024"/>
            <a:ext cx="128016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32" name="Shape 28"/>
          <p:cNvSpPr/>
          <p:nvPr/>
        </p:nvSpPr>
        <p:spPr>
          <a:xfrm>
            <a:off x="1923898" y="3255264"/>
            <a:ext cx="1265530" cy="731520"/>
          </a:xfrm>
          <a:prstGeom prst="roundRect">
            <a:avLst>
              <a:gd name="adj" fmla="val 87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1978762" y="3255264"/>
            <a:ext cx="115580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Score /50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3203143" y="3621024"/>
            <a:ext cx="128016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35" name="Shape 31"/>
          <p:cNvSpPr/>
          <p:nvPr/>
        </p:nvSpPr>
        <p:spPr>
          <a:xfrm>
            <a:off x="3344875" y="3255264"/>
            <a:ext cx="1265530" cy="731520"/>
          </a:xfrm>
          <a:prstGeom prst="roundRect">
            <a:avLst>
              <a:gd name="adj" fmla="val 8750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3399739" y="3255264"/>
            <a:ext cx="115580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Analysis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4624121" y="3621024"/>
            <a:ext cx="128016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38" name="Shape 34"/>
          <p:cNvSpPr/>
          <p:nvPr/>
        </p:nvSpPr>
        <p:spPr>
          <a:xfrm>
            <a:off x="4765853" y="3255264"/>
            <a:ext cx="1265530" cy="731520"/>
          </a:xfrm>
          <a:prstGeom prst="roundRect">
            <a:avLst>
              <a:gd name="adj" fmla="val 8750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4820717" y="3255264"/>
            <a:ext cx="115580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Deduction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6045098" y="3621024"/>
            <a:ext cx="128016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41" name="Shape 37"/>
          <p:cNvSpPr/>
          <p:nvPr/>
        </p:nvSpPr>
        <p:spPr>
          <a:xfrm>
            <a:off x="6186830" y="3255264"/>
            <a:ext cx="1265530" cy="731520"/>
          </a:xfrm>
          <a:prstGeom prst="roundRect">
            <a:avLst>
              <a:gd name="adj" fmla="val 875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6241694" y="3255264"/>
            <a:ext cx="115580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AI Component /50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502920" y="4151376"/>
            <a:ext cx="694944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44" name="Text 40"/>
          <p:cNvSpPr txBox="1"/>
          <p:nvPr/>
        </p:nvSpPr>
        <p:spPr>
          <a:xfrm>
            <a:off x="722376" y="43159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722376" y="4535424"/>
            <a:ext cx="6510528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2"/>
          <p:cNvSpPr txBox="1"/>
          <p:nvPr/>
        </p:nvSpPr>
        <p:spPr>
          <a:xfrm>
            <a:off x="722376" y="4645152"/>
            <a:ext cx="12106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Evaluation</a:t>
            </a:r>
            <a:endParaRPr lang="en-US" sz="900" dirty="0"/>
          </a:p>
        </p:txBody>
      </p:sp>
      <p:sp>
        <p:nvSpPr>
          <p:cNvPr id="47" name="Text 43"/>
          <p:cNvSpPr txBox="1"/>
          <p:nvPr/>
        </p:nvSpPr>
        <p:spPr>
          <a:xfrm>
            <a:off x="722376" y="4846320"/>
            <a:ext cx="12106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50</a:t>
            </a:r>
            <a:endParaRPr lang="en-US" sz="1600" dirty="0"/>
          </a:p>
        </p:txBody>
      </p:sp>
      <p:sp>
        <p:nvSpPr>
          <p:cNvPr id="48" name="Text 44"/>
          <p:cNvSpPr txBox="1"/>
          <p:nvPr/>
        </p:nvSpPr>
        <p:spPr>
          <a:xfrm>
            <a:off x="2024482" y="4645152"/>
            <a:ext cx="12106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Similarity</a:t>
            </a:r>
            <a:endParaRPr lang="en-US" sz="900" dirty="0"/>
          </a:p>
        </p:txBody>
      </p:sp>
      <p:sp>
        <p:nvSpPr>
          <p:cNvPr id="49" name="Text 45"/>
          <p:cNvSpPr txBox="1"/>
          <p:nvPr/>
        </p:nvSpPr>
        <p:spPr>
          <a:xfrm>
            <a:off x="2024482" y="4846320"/>
            <a:ext cx="12106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600" dirty="0"/>
          </a:p>
        </p:txBody>
      </p:sp>
      <p:sp>
        <p:nvSpPr>
          <p:cNvPr id="50" name="Shape 46"/>
          <p:cNvSpPr/>
          <p:nvPr/>
        </p:nvSpPr>
        <p:spPr>
          <a:xfrm>
            <a:off x="1914754" y="4645152"/>
            <a:ext cx="10973" cy="5120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1" name="Text 47"/>
          <p:cNvSpPr txBox="1"/>
          <p:nvPr/>
        </p:nvSpPr>
        <p:spPr>
          <a:xfrm>
            <a:off x="3326587" y="4645152"/>
            <a:ext cx="12106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Similarity</a:t>
            </a:r>
            <a:endParaRPr lang="en-US" sz="900" dirty="0"/>
          </a:p>
        </p:txBody>
      </p:sp>
      <p:sp>
        <p:nvSpPr>
          <p:cNvPr id="52" name="Text 48"/>
          <p:cNvSpPr txBox="1"/>
          <p:nvPr/>
        </p:nvSpPr>
        <p:spPr>
          <a:xfrm>
            <a:off x="3326587" y="4846320"/>
            <a:ext cx="12106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600" dirty="0"/>
          </a:p>
        </p:txBody>
      </p:sp>
      <p:sp>
        <p:nvSpPr>
          <p:cNvPr id="53" name="Shape 49"/>
          <p:cNvSpPr/>
          <p:nvPr/>
        </p:nvSpPr>
        <p:spPr>
          <a:xfrm>
            <a:off x="3216859" y="4645152"/>
            <a:ext cx="10973" cy="5120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Text 50"/>
          <p:cNvSpPr txBox="1"/>
          <p:nvPr/>
        </p:nvSpPr>
        <p:spPr>
          <a:xfrm>
            <a:off x="4628693" y="4645152"/>
            <a:ext cx="12106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</a:t>
            </a:r>
            <a:endParaRPr lang="en-US" sz="900" dirty="0"/>
          </a:p>
        </p:txBody>
      </p:sp>
      <p:sp>
        <p:nvSpPr>
          <p:cNvPr id="55" name="Text 51"/>
          <p:cNvSpPr txBox="1"/>
          <p:nvPr/>
        </p:nvSpPr>
        <p:spPr>
          <a:xfrm>
            <a:off x="4628693" y="4846320"/>
            <a:ext cx="12106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56" name="Shape 52"/>
          <p:cNvSpPr/>
          <p:nvPr/>
        </p:nvSpPr>
        <p:spPr>
          <a:xfrm>
            <a:off x="4518965" y="4645152"/>
            <a:ext cx="10973" cy="5120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Text 53"/>
          <p:cNvSpPr txBox="1"/>
          <p:nvPr/>
        </p:nvSpPr>
        <p:spPr>
          <a:xfrm>
            <a:off x="5930798" y="4645152"/>
            <a:ext cx="12106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AI Component</a:t>
            </a:r>
            <a:endParaRPr lang="en-US" sz="900" dirty="0"/>
          </a:p>
        </p:txBody>
      </p:sp>
      <p:sp>
        <p:nvSpPr>
          <p:cNvPr id="58" name="Text 54"/>
          <p:cNvSpPr txBox="1"/>
          <p:nvPr/>
        </p:nvSpPr>
        <p:spPr>
          <a:xfrm>
            <a:off x="5930798" y="4846320"/>
            <a:ext cx="12106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50</a:t>
            </a:r>
            <a:endParaRPr lang="en-US" sz="1600" dirty="0"/>
          </a:p>
        </p:txBody>
      </p:sp>
      <p:sp>
        <p:nvSpPr>
          <p:cNvPr id="59" name="Shape 55"/>
          <p:cNvSpPr/>
          <p:nvPr/>
        </p:nvSpPr>
        <p:spPr>
          <a:xfrm>
            <a:off x="5821070" y="4645152"/>
            <a:ext cx="10973" cy="5120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56"/>
          <p:cNvSpPr txBox="1"/>
          <p:nvPr/>
        </p:nvSpPr>
        <p:spPr>
          <a:xfrm>
            <a:off x="722376" y="5248656"/>
            <a:ext cx="6510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similarity results in an applicable deduction according to the classroom's configured rules — the AI component always remains out of 50.</a:t>
            </a:r>
            <a:endParaRPr lang="en-US" sz="950" dirty="0"/>
          </a:p>
        </p:txBody>
      </p:sp>
      <p:sp>
        <p:nvSpPr>
          <p:cNvPr id="61" name="Shape 57"/>
          <p:cNvSpPr/>
          <p:nvPr/>
        </p:nvSpPr>
        <p:spPr>
          <a:xfrm>
            <a:off x="7680960" y="3255264"/>
            <a:ext cx="4005072" cy="2359152"/>
          </a:xfrm>
          <a:prstGeom prst="roundRect">
            <a:avLst>
              <a:gd name="adj" fmla="val 27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pic>
        <p:nvPicPr>
          <p:cNvPr id="6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416" y="3419856"/>
            <a:ext cx="201168" cy="201168"/>
          </a:xfrm>
          <a:prstGeom prst="rect">
            <a:avLst/>
          </a:prstGeom>
        </p:spPr>
      </p:pic>
      <p:sp>
        <p:nvSpPr>
          <p:cNvPr id="63" name="Text 58"/>
          <p:cNvSpPr txBox="1"/>
          <p:nvPr/>
        </p:nvSpPr>
        <p:spPr>
          <a:xfrm>
            <a:off x="8193024" y="341985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REPORT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7900416" y="3712464"/>
            <a:ext cx="3566160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5" name="Text 60"/>
          <p:cNvSpPr txBox="1"/>
          <p:nvPr/>
        </p:nvSpPr>
        <p:spPr>
          <a:xfrm>
            <a:off x="7900416" y="38221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Similarity</a:t>
            </a:r>
            <a:endParaRPr lang="en-US" sz="1000" dirty="0"/>
          </a:p>
        </p:txBody>
      </p:sp>
      <p:sp>
        <p:nvSpPr>
          <p:cNvPr id="66" name="Text 61"/>
          <p:cNvSpPr txBox="1"/>
          <p:nvPr/>
        </p:nvSpPr>
        <p:spPr>
          <a:xfrm>
            <a:off x="10314432" y="3822192"/>
            <a:ext cx="1152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100" dirty="0"/>
          </a:p>
        </p:txBody>
      </p:sp>
      <p:sp>
        <p:nvSpPr>
          <p:cNvPr id="67" name="Shape 62"/>
          <p:cNvSpPr/>
          <p:nvPr/>
        </p:nvSpPr>
        <p:spPr>
          <a:xfrm>
            <a:off x="7900416" y="4078224"/>
            <a:ext cx="3566160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8" name="Text 63"/>
          <p:cNvSpPr txBox="1"/>
          <p:nvPr/>
        </p:nvSpPr>
        <p:spPr>
          <a:xfrm>
            <a:off x="7900416" y="41148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Similarity</a:t>
            </a:r>
            <a:endParaRPr lang="en-US" sz="1000" dirty="0"/>
          </a:p>
        </p:txBody>
      </p:sp>
      <p:sp>
        <p:nvSpPr>
          <p:cNvPr id="69" name="Text 64"/>
          <p:cNvSpPr txBox="1"/>
          <p:nvPr/>
        </p:nvSpPr>
        <p:spPr>
          <a:xfrm>
            <a:off x="10314432" y="4114800"/>
            <a:ext cx="1152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100" dirty="0"/>
          </a:p>
        </p:txBody>
      </p:sp>
      <p:sp>
        <p:nvSpPr>
          <p:cNvPr id="70" name="Shape 65"/>
          <p:cNvSpPr/>
          <p:nvPr/>
        </p:nvSpPr>
        <p:spPr>
          <a:xfrm>
            <a:off x="7900416" y="4370832"/>
            <a:ext cx="3566160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1" name="Text 66"/>
          <p:cNvSpPr txBox="1"/>
          <p:nvPr/>
        </p:nvSpPr>
        <p:spPr>
          <a:xfrm>
            <a:off x="7900416" y="440740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Status</a:t>
            </a:r>
            <a:endParaRPr lang="en-US" sz="1000" dirty="0"/>
          </a:p>
        </p:txBody>
      </p:sp>
      <p:sp>
        <p:nvSpPr>
          <p:cNvPr id="72" name="Text 67"/>
          <p:cNvSpPr txBox="1"/>
          <p:nvPr/>
        </p:nvSpPr>
        <p:spPr>
          <a:xfrm>
            <a:off x="10314432" y="4407408"/>
            <a:ext cx="1152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73" name="Shape 68"/>
          <p:cNvSpPr/>
          <p:nvPr/>
        </p:nvSpPr>
        <p:spPr>
          <a:xfrm>
            <a:off x="7900416" y="4663440"/>
            <a:ext cx="3566160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4" name="Text 69"/>
          <p:cNvSpPr txBox="1"/>
          <p:nvPr/>
        </p:nvSpPr>
        <p:spPr>
          <a:xfrm>
            <a:off x="7900416" y="470001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Deduction</a:t>
            </a:r>
            <a:endParaRPr lang="en-US" sz="1000" dirty="0"/>
          </a:p>
        </p:txBody>
      </p:sp>
      <p:sp>
        <p:nvSpPr>
          <p:cNvPr id="75" name="Text 70"/>
          <p:cNvSpPr txBox="1"/>
          <p:nvPr/>
        </p:nvSpPr>
        <p:spPr>
          <a:xfrm>
            <a:off x="10314432" y="4700016"/>
            <a:ext cx="1152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marks</a:t>
            </a:r>
            <a:endParaRPr lang="en-US" sz="1100" dirty="0"/>
          </a:p>
        </p:txBody>
      </p:sp>
      <p:sp>
        <p:nvSpPr>
          <p:cNvPr id="76" name="Shape 71"/>
          <p:cNvSpPr/>
          <p:nvPr/>
        </p:nvSpPr>
        <p:spPr>
          <a:xfrm>
            <a:off x="7900416" y="4956048"/>
            <a:ext cx="3566160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7" name="Text 72"/>
          <p:cNvSpPr txBox="1"/>
          <p:nvPr/>
        </p:nvSpPr>
        <p:spPr>
          <a:xfrm>
            <a:off x="7900416" y="50474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/ FEEDBACK</a:t>
            </a:r>
            <a:endParaRPr lang="en-US" sz="850" dirty="0"/>
          </a:p>
        </p:txBody>
      </p:sp>
      <p:sp>
        <p:nvSpPr>
          <p:cNvPr id="78" name="Text 73"/>
          <p:cNvSpPr txBox="1"/>
          <p:nvPr/>
        </p:nvSpPr>
        <p:spPr>
          <a:xfrm>
            <a:off x="7900416" y="523036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within accepted limits. No deduction applied to the AI component.</a:t>
            </a:r>
            <a:endParaRPr lang="en-US" sz="950" dirty="0"/>
          </a:p>
        </p:txBody>
      </p:sp>
      <p:sp>
        <p:nvSpPr>
          <p:cNvPr id="79" name="Shape 74"/>
          <p:cNvSpPr/>
          <p:nvPr/>
        </p:nvSpPr>
        <p:spPr>
          <a:xfrm>
            <a:off x="502920" y="5779008"/>
            <a:ext cx="11185855" cy="64008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80" name="Text 75"/>
          <p:cNvSpPr txBox="1"/>
          <p:nvPr/>
        </p:nvSpPr>
        <p:spPr>
          <a:xfrm>
            <a:off x="1161288" y="5779008"/>
            <a:ext cx="10271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is a score modifier, not a separate mark category — the deduction is applied inside the AI component, which always stays out of 50.</a:t>
            </a:r>
            <a:endParaRPr lang="en-US" sz="1200" dirty="0"/>
          </a:p>
        </p:txBody>
      </p:sp>
      <p:pic>
        <p:nvPicPr>
          <p:cNvPr id="8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5989320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38328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9848" y="365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EVALUATION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1042416" y="566928"/>
            <a:ext cx="10515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Evaluation with Flexible Evaluator Assignment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188720"/>
            <a:ext cx="841248" cy="256032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118872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1453896" y="118872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/ Coordinator assigned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1591056"/>
            <a:ext cx="3429000" cy="585216"/>
          </a:xfrm>
          <a:prstGeom prst="roundRect">
            <a:avLst>
              <a:gd name="adj" fmla="val 10938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77393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78408" y="1591056"/>
            <a:ext cx="2807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/ Coordinator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2217420" y="2194560"/>
            <a:ext cx="0" cy="164592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502920" y="2377440"/>
            <a:ext cx="3429000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560320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78408" y="2377440"/>
            <a:ext cx="2807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+ Demo /25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2217420" y="2980944"/>
            <a:ext cx="0" cy="164592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502920" y="3163824"/>
            <a:ext cx="3429000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3346704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78408" y="3163824"/>
            <a:ext cx="2807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/25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2217420" y="3767328"/>
            <a:ext cx="0" cy="164592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502920" y="3950208"/>
            <a:ext cx="3429000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4133088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78408" y="3950208"/>
            <a:ext cx="2807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Completed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2217420" y="4553712"/>
            <a:ext cx="0" cy="164592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4" name="Shape 17"/>
          <p:cNvSpPr/>
          <p:nvPr/>
        </p:nvSpPr>
        <p:spPr>
          <a:xfrm>
            <a:off x="502920" y="4736592"/>
            <a:ext cx="3429000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4919472"/>
            <a:ext cx="219456" cy="21945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78408" y="4736592"/>
            <a:ext cx="2807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for Verification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4096512" y="1188720"/>
            <a:ext cx="841248" cy="256032"/>
          </a:xfrm>
          <a:prstGeom prst="roundRect">
            <a:avLst>
              <a:gd name="adj" fmla="val 250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4096512" y="118872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</a:t>
            </a:r>
            <a:endParaRPr lang="en-US" sz="850" dirty="0"/>
          </a:p>
        </p:txBody>
      </p:sp>
      <p:sp>
        <p:nvSpPr>
          <p:cNvPr id="29" name="Text 21"/>
          <p:cNvSpPr txBox="1"/>
          <p:nvPr/>
        </p:nvSpPr>
        <p:spPr>
          <a:xfrm>
            <a:off x="5047488" y="118872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Faculty / Coordinator assigned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4096512" y="1591056"/>
            <a:ext cx="3429000" cy="585216"/>
          </a:xfrm>
          <a:prstGeom prst="roundRect">
            <a:avLst>
              <a:gd name="adj" fmla="val 10938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2816" y="1773936"/>
            <a:ext cx="219456" cy="219456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4572000" y="1591056"/>
            <a:ext cx="2807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Owner</a:t>
            </a:r>
            <a:endParaRPr lang="en-US" sz="1150" dirty="0"/>
          </a:p>
        </p:txBody>
      </p:sp>
      <p:sp>
        <p:nvSpPr>
          <p:cNvPr id="33" name="Shape 24"/>
          <p:cNvSpPr/>
          <p:nvPr/>
        </p:nvSpPr>
        <p:spPr>
          <a:xfrm>
            <a:off x="5811012" y="2194560"/>
            <a:ext cx="0" cy="164592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34" name="Shape 25"/>
          <p:cNvSpPr/>
          <p:nvPr/>
        </p:nvSpPr>
        <p:spPr>
          <a:xfrm>
            <a:off x="4096512" y="2377440"/>
            <a:ext cx="3429000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42816" y="2560320"/>
            <a:ext cx="219456" cy="219456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4572000" y="2377440"/>
            <a:ext cx="2807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+ Demo /25</a:t>
            </a:r>
            <a:endParaRPr lang="en-US" sz="1150" dirty="0"/>
          </a:p>
        </p:txBody>
      </p:sp>
      <p:sp>
        <p:nvSpPr>
          <p:cNvPr id="37" name="Shape 27"/>
          <p:cNvSpPr/>
          <p:nvPr/>
        </p:nvSpPr>
        <p:spPr>
          <a:xfrm>
            <a:off x="5811012" y="2980944"/>
            <a:ext cx="0" cy="164592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38" name="Shape 28"/>
          <p:cNvSpPr/>
          <p:nvPr/>
        </p:nvSpPr>
        <p:spPr>
          <a:xfrm>
            <a:off x="4096512" y="3163824"/>
            <a:ext cx="3429000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42816" y="3346704"/>
            <a:ext cx="219456" cy="219456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4572000" y="3163824"/>
            <a:ext cx="2807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/25</a:t>
            </a:r>
            <a:endParaRPr lang="en-US" sz="1150" dirty="0"/>
          </a:p>
        </p:txBody>
      </p:sp>
      <p:sp>
        <p:nvSpPr>
          <p:cNvPr id="41" name="Shape 30"/>
          <p:cNvSpPr/>
          <p:nvPr/>
        </p:nvSpPr>
        <p:spPr>
          <a:xfrm>
            <a:off x="5811012" y="3767328"/>
            <a:ext cx="0" cy="164592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42" name="Shape 31"/>
          <p:cNvSpPr/>
          <p:nvPr/>
        </p:nvSpPr>
        <p:spPr>
          <a:xfrm>
            <a:off x="4096512" y="3950208"/>
            <a:ext cx="3429000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42816" y="4133088"/>
            <a:ext cx="219456" cy="219456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4572000" y="3950208"/>
            <a:ext cx="2807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Completed</a:t>
            </a:r>
            <a:endParaRPr lang="en-US" sz="1150" dirty="0"/>
          </a:p>
        </p:txBody>
      </p:sp>
      <p:sp>
        <p:nvSpPr>
          <p:cNvPr id="45" name="Shape 33"/>
          <p:cNvSpPr/>
          <p:nvPr/>
        </p:nvSpPr>
        <p:spPr>
          <a:xfrm>
            <a:off x="5811012" y="4553712"/>
            <a:ext cx="0" cy="164592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46" name="Shape 34"/>
          <p:cNvSpPr/>
          <p:nvPr/>
        </p:nvSpPr>
        <p:spPr>
          <a:xfrm>
            <a:off x="4096512" y="4736592"/>
            <a:ext cx="3429000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42816" y="4919472"/>
            <a:ext cx="219456" cy="219456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4572000" y="4736592"/>
            <a:ext cx="2807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for Verification</a:t>
            </a:r>
            <a:endParaRPr lang="en-US" sz="1150" dirty="0"/>
          </a:p>
        </p:txBody>
      </p:sp>
      <p:sp>
        <p:nvSpPr>
          <p:cNvPr id="49" name="Shape 36"/>
          <p:cNvSpPr/>
          <p:nvPr/>
        </p:nvSpPr>
        <p:spPr>
          <a:xfrm>
            <a:off x="502920" y="5522976"/>
            <a:ext cx="7022592" cy="896112"/>
          </a:xfrm>
          <a:prstGeom prst="roundRect">
            <a:avLst>
              <a:gd name="adj" fmla="val 7143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0" name="Text 37"/>
          <p:cNvSpPr txBox="1"/>
          <p:nvPr/>
        </p:nvSpPr>
        <p:spPr>
          <a:xfrm>
            <a:off x="1161288" y="5522976"/>
            <a:ext cx="61081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Faculty/Coordinator assignment is optional. Faculty and Coordinator form one combined evaluator role — if nobody is assigned, the Classroom Owner performs exactly the same evaluation, with identical PPT + Demo /25 and Viva /25 components.</a:t>
            </a:r>
            <a:endParaRPr lang="en-US" sz="1100" dirty="0"/>
          </a:p>
        </p:txBody>
      </p:sp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8952" y="5861304"/>
            <a:ext cx="219456" cy="219456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7827264" y="1188720"/>
            <a:ext cx="3858768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pic>
        <p:nvPicPr>
          <p:cNvPr id="5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1335024"/>
            <a:ext cx="201168" cy="201168"/>
          </a:xfrm>
          <a:prstGeom prst="rect">
            <a:avLst/>
          </a:prstGeom>
        </p:spPr>
      </p:pic>
      <p:sp>
        <p:nvSpPr>
          <p:cNvPr id="54" name="Text 39"/>
          <p:cNvSpPr txBox="1"/>
          <p:nvPr/>
        </p:nvSpPr>
        <p:spPr>
          <a:xfrm>
            <a:off x="8339328" y="133502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STRUCTURE</a:t>
            </a:r>
            <a:endParaRPr lang="en-US" sz="900" dirty="0"/>
          </a:p>
        </p:txBody>
      </p:sp>
      <p:sp>
        <p:nvSpPr>
          <p:cNvPr id="55" name="Text 40"/>
          <p:cNvSpPr txBox="1"/>
          <p:nvPr/>
        </p:nvSpPr>
        <p:spPr>
          <a:xfrm>
            <a:off x="8046720" y="1627632"/>
            <a:ext cx="106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56" name="Text 41"/>
          <p:cNvSpPr txBox="1"/>
          <p:nvPr/>
        </p:nvSpPr>
        <p:spPr>
          <a:xfrm>
            <a:off x="8046720" y="2066544"/>
            <a:ext cx="106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Predefined questions</a:t>
            </a:r>
            <a:endParaRPr lang="en-US" sz="900" dirty="0"/>
          </a:p>
        </p:txBody>
      </p:sp>
      <p:sp>
        <p:nvSpPr>
          <p:cNvPr id="57" name="Text 42"/>
          <p:cNvSpPr txBox="1"/>
          <p:nvPr/>
        </p:nvSpPr>
        <p:spPr>
          <a:xfrm>
            <a:off x="9186672" y="1627632"/>
            <a:ext cx="106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×5</a:t>
            </a:r>
            <a:endParaRPr lang="en-US" sz="2600" dirty="0"/>
          </a:p>
        </p:txBody>
      </p:sp>
      <p:sp>
        <p:nvSpPr>
          <p:cNvPr id="58" name="Text 43"/>
          <p:cNvSpPr txBox="1"/>
          <p:nvPr/>
        </p:nvSpPr>
        <p:spPr>
          <a:xfrm>
            <a:off x="9186672" y="2066544"/>
            <a:ext cx="106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each</a:t>
            </a:r>
            <a:endParaRPr lang="en-US" sz="900" dirty="0"/>
          </a:p>
        </p:txBody>
      </p:sp>
      <p:sp>
        <p:nvSpPr>
          <p:cNvPr id="59" name="Text 44"/>
          <p:cNvSpPr txBox="1"/>
          <p:nvPr/>
        </p:nvSpPr>
        <p:spPr>
          <a:xfrm>
            <a:off x="10326624" y="1627632"/>
            <a:ext cx="1066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600" dirty="0"/>
          </a:p>
        </p:txBody>
      </p:sp>
      <p:sp>
        <p:nvSpPr>
          <p:cNvPr id="60" name="Text 45"/>
          <p:cNvSpPr txBox="1"/>
          <p:nvPr/>
        </p:nvSpPr>
        <p:spPr>
          <a:xfrm>
            <a:off x="10326624" y="2066544"/>
            <a:ext cx="106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marks</a:t>
            </a:r>
            <a:endParaRPr lang="en-US" sz="900" dirty="0"/>
          </a:p>
        </p:txBody>
      </p:sp>
      <p:sp>
        <p:nvSpPr>
          <p:cNvPr id="61" name="Text 46"/>
          <p:cNvSpPr txBox="1"/>
          <p:nvPr/>
        </p:nvSpPr>
        <p:spPr>
          <a:xfrm>
            <a:off x="7827264" y="2578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STATUS</a:t>
            </a:r>
            <a:endParaRPr lang="en-US" sz="950" dirty="0"/>
          </a:p>
        </p:txBody>
      </p:sp>
      <p:sp>
        <p:nvSpPr>
          <p:cNvPr id="62" name="Shape 47"/>
          <p:cNvSpPr/>
          <p:nvPr/>
        </p:nvSpPr>
        <p:spPr>
          <a:xfrm>
            <a:off x="7827264" y="2779776"/>
            <a:ext cx="3858768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63" name="Shape 48"/>
          <p:cNvSpPr/>
          <p:nvPr/>
        </p:nvSpPr>
        <p:spPr>
          <a:xfrm>
            <a:off x="8028432" y="2962656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pic>
        <p:nvPicPr>
          <p:cNvPr id="6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01584" y="3035808"/>
            <a:ext cx="219456" cy="219456"/>
          </a:xfrm>
          <a:prstGeom prst="rect">
            <a:avLst/>
          </a:prstGeom>
        </p:spPr>
      </p:pic>
      <p:sp>
        <p:nvSpPr>
          <p:cNvPr id="65" name="Text 49"/>
          <p:cNvSpPr txBox="1"/>
          <p:nvPr/>
        </p:nvSpPr>
        <p:spPr>
          <a:xfrm>
            <a:off x="8503920" y="2944368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66" name="Text 50"/>
          <p:cNvSpPr txBox="1"/>
          <p:nvPr/>
        </p:nvSpPr>
        <p:spPr>
          <a:xfrm>
            <a:off x="8503920" y="3218688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fully completed for the student or team.</a:t>
            </a:r>
            <a:endParaRPr lang="en-US" sz="950" dirty="0"/>
          </a:p>
        </p:txBody>
      </p:sp>
      <p:sp>
        <p:nvSpPr>
          <p:cNvPr id="67" name="Shape 51"/>
          <p:cNvSpPr/>
          <p:nvPr/>
        </p:nvSpPr>
        <p:spPr>
          <a:xfrm>
            <a:off x="7827264" y="3803904"/>
            <a:ext cx="3858768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68" name="Shape 52"/>
          <p:cNvSpPr/>
          <p:nvPr/>
        </p:nvSpPr>
        <p:spPr>
          <a:xfrm>
            <a:off x="8028432" y="3986784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pic>
        <p:nvPicPr>
          <p:cNvPr id="6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01584" y="4059936"/>
            <a:ext cx="219456" cy="219456"/>
          </a:xfrm>
          <a:prstGeom prst="rect">
            <a:avLst/>
          </a:prstGeom>
        </p:spPr>
      </p:pic>
      <p:sp>
        <p:nvSpPr>
          <p:cNvPr id="70" name="Text 53"/>
          <p:cNvSpPr txBox="1"/>
          <p:nvPr/>
        </p:nvSpPr>
        <p:spPr>
          <a:xfrm>
            <a:off x="8503920" y="3968496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</a:t>
            </a:r>
            <a:endParaRPr lang="en-US" sz="1200" dirty="0"/>
          </a:p>
        </p:txBody>
      </p:sp>
      <p:sp>
        <p:nvSpPr>
          <p:cNvPr id="71" name="Text 54"/>
          <p:cNvSpPr txBox="1"/>
          <p:nvPr/>
        </p:nvSpPr>
        <p:spPr>
          <a:xfrm>
            <a:off x="8503920" y="4242816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Student/team could not complete the required evaluation.</a:t>
            </a:r>
            <a:endParaRPr lang="en-US" sz="950" dirty="0"/>
          </a:p>
        </p:txBody>
      </p:sp>
      <p:sp>
        <p:nvSpPr>
          <p:cNvPr id="72" name="Shape 55"/>
          <p:cNvSpPr/>
          <p:nvPr/>
        </p:nvSpPr>
        <p:spPr>
          <a:xfrm>
            <a:off x="7827264" y="4828032"/>
            <a:ext cx="3858768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73" name="Shape 56"/>
          <p:cNvSpPr/>
          <p:nvPr/>
        </p:nvSpPr>
        <p:spPr>
          <a:xfrm>
            <a:off x="8028432" y="5010912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</p:sp>
      <p:pic>
        <p:nvPicPr>
          <p:cNvPr id="7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01584" y="5084064"/>
            <a:ext cx="219456" cy="219456"/>
          </a:xfrm>
          <a:prstGeom prst="rect">
            <a:avLst/>
          </a:prstGeom>
        </p:spPr>
      </p:pic>
      <p:sp>
        <p:nvSpPr>
          <p:cNvPr id="75" name="Text 57"/>
          <p:cNvSpPr txBox="1"/>
          <p:nvPr/>
        </p:nvSpPr>
        <p:spPr>
          <a:xfrm>
            <a:off x="8503920" y="4992624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</a:t>
            </a:r>
            <a:endParaRPr lang="en-US" sz="1200" dirty="0"/>
          </a:p>
        </p:txBody>
      </p:sp>
      <p:sp>
        <p:nvSpPr>
          <p:cNvPr id="76" name="Text 58"/>
          <p:cNvSpPr txBox="1"/>
          <p:nvPr/>
        </p:nvSpPr>
        <p:spPr>
          <a:xfrm>
            <a:off x="8503920" y="5266944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Student/team was absent for the scheduled evaluation.</a:t>
            </a:r>
            <a:endParaRPr lang="en-US" sz="950" dirty="0"/>
          </a:p>
        </p:txBody>
      </p:sp>
      <p:sp>
        <p:nvSpPr>
          <p:cNvPr id="77" name="Shape 59"/>
          <p:cNvSpPr/>
          <p:nvPr/>
        </p:nvSpPr>
        <p:spPr>
          <a:xfrm>
            <a:off x="7827264" y="5907024"/>
            <a:ext cx="3858768" cy="512064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78" name="Text 60"/>
          <p:cNvSpPr txBox="1"/>
          <p:nvPr/>
        </p:nvSpPr>
        <p:spPr>
          <a:xfrm>
            <a:off x="8010144" y="5943600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/ ABSENT  →  REASON + FEEDBACK REQUIRED</a:t>
            </a:r>
            <a:endParaRPr lang="en-US" sz="850" dirty="0"/>
          </a:p>
        </p:txBody>
      </p:sp>
      <p:sp>
        <p:nvSpPr>
          <p:cNvPr id="79" name="Text 61"/>
          <p:cNvSpPr txBox="1"/>
          <p:nvPr/>
        </p:nvSpPr>
        <p:spPr>
          <a:xfrm>
            <a:off x="8010144" y="6144768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“Team could not complete the scheduled demonstration.”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38328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9848" y="365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RESULTS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1042416" y="566928"/>
            <a:ext cx="10515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Evaluation to Verified Results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124358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PIPELINE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1481328"/>
            <a:ext cx="3246120" cy="420624"/>
          </a:xfrm>
          <a:prstGeom prst="roundRect">
            <a:avLst>
              <a:gd name="adj" fmla="val 152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58191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78408" y="1481328"/>
            <a:ext cx="2624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Faculty/Coordinator OR Owner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2125980" y="1911096"/>
            <a:ext cx="0" cy="9144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0" name="Shape 6"/>
          <p:cNvSpPr/>
          <p:nvPr/>
        </p:nvSpPr>
        <p:spPr>
          <a:xfrm>
            <a:off x="502920" y="2007108"/>
            <a:ext cx="3246120" cy="420624"/>
          </a:xfrm>
          <a:prstGeom prst="roundRect">
            <a:avLst>
              <a:gd name="adj" fmla="val 152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107692"/>
            <a:ext cx="219456" cy="21945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78408" y="2007108"/>
            <a:ext cx="2624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Evaluations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2125980" y="2436876"/>
            <a:ext cx="0" cy="9144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4" name="Shape 9"/>
          <p:cNvSpPr/>
          <p:nvPr/>
        </p:nvSpPr>
        <p:spPr>
          <a:xfrm>
            <a:off x="502920" y="2532888"/>
            <a:ext cx="3246120" cy="420624"/>
          </a:xfrm>
          <a:prstGeom prst="roundRect">
            <a:avLst>
              <a:gd name="adj" fmla="val 152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2633472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78408" y="2532888"/>
            <a:ext cx="2624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for Verification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2125980" y="2962656"/>
            <a:ext cx="0" cy="9144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8" name="Shape 12"/>
          <p:cNvSpPr/>
          <p:nvPr/>
        </p:nvSpPr>
        <p:spPr>
          <a:xfrm>
            <a:off x="502920" y="3058668"/>
            <a:ext cx="3246120" cy="420624"/>
          </a:xfrm>
          <a:prstGeom prst="roundRect">
            <a:avLst>
              <a:gd name="adj" fmla="val 152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3159252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78408" y="3058668"/>
            <a:ext cx="2624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Owner / Admin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2125980" y="3488436"/>
            <a:ext cx="0" cy="9144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02920" y="3584448"/>
            <a:ext cx="3246120" cy="420624"/>
          </a:xfrm>
          <a:prstGeom prst="roundRect">
            <a:avLst>
              <a:gd name="adj" fmla="val 152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3685032"/>
            <a:ext cx="219456" cy="219456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978408" y="3584448"/>
            <a:ext cx="2624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Results</a:t>
            </a:r>
            <a:endParaRPr lang="en-US" sz="1150" dirty="0"/>
          </a:p>
        </p:txBody>
      </p:sp>
      <p:sp>
        <p:nvSpPr>
          <p:cNvPr id="25" name="Shape 17"/>
          <p:cNvSpPr/>
          <p:nvPr/>
        </p:nvSpPr>
        <p:spPr>
          <a:xfrm>
            <a:off x="2125980" y="4014216"/>
            <a:ext cx="0" cy="9144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6" name="Shape 18"/>
          <p:cNvSpPr/>
          <p:nvPr/>
        </p:nvSpPr>
        <p:spPr>
          <a:xfrm>
            <a:off x="502920" y="4110228"/>
            <a:ext cx="3246120" cy="420624"/>
          </a:xfrm>
          <a:prstGeom prst="roundRect">
            <a:avLst>
              <a:gd name="adj" fmla="val 152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4210812"/>
            <a:ext cx="219456" cy="219456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978408" y="4110228"/>
            <a:ext cx="2624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Return</a:t>
            </a:r>
            <a:endParaRPr lang="en-US" sz="1150" dirty="0"/>
          </a:p>
        </p:txBody>
      </p:sp>
      <p:sp>
        <p:nvSpPr>
          <p:cNvPr id="29" name="Shape 20"/>
          <p:cNvSpPr/>
          <p:nvPr/>
        </p:nvSpPr>
        <p:spPr>
          <a:xfrm>
            <a:off x="2125980" y="4539996"/>
            <a:ext cx="0" cy="9144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30" name="Shape 21"/>
          <p:cNvSpPr/>
          <p:nvPr/>
        </p:nvSpPr>
        <p:spPr>
          <a:xfrm>
            <a:off x="502920" y="4636008"/>
            <a:ext cx="3246120" cy="420624"/>
          </a:xfrm>
          <a:prstGeom prst="roundRect">
            <a:avLst>
              <a:gd name="adj" fmla="val 15217"/>
            </a:avLst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" y="4736592"/>
            <a:ext cx="219456" cy="219456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978408" y="4636008"/>
            <a:ext cx="2624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Published</a:t>
            </a:r>
            <a:endParaRPr lang="en-US" sz="1150" dirty="0"/>
          </a:p>
        </p:txBody>
      </p:sp>
      <p:sp>
        <p:nvSpPr>
          <p:cNvPr id="33" name="Shape 23"/>
          <p:cNvSpPr/>
          <p:nvPr/>
        </p:nvSpPr>
        <p:spPr>
          <a:xfrm>
            <a:off x="2125980" y="5065776"/>
            <a:ext cx="0" cy="9144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34" name="Shape 24"/>
          <p:cNvSpPr/>
          <p:nvPr/>
        </p:nvSpPr>
        <p:spPr>
          <a:xfrm>
            <a:off x="502920" y="5161788"/>
            <a:ext cx="3246120" cy="420624"/>
          </a:xfrm>
          <a:prstGeom prst="roundRect">
            <a:avLst>
              <a:gd name="adj" fmla="val 15217"/>
            </a:avLst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" y="5262372"/>
            <a:ext cx="219456" cy="219456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978408" y="5161788"/>
            <a:ext cx="2624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150" dirty="0"/>
          </a:p>
        </p:txBody>
      </p:sp>
      <p:sp>
        <p:nvSpPr>
          <p:cNvPr id="37" name="Shape 26"/>
          <p:cNvSpPr/>
          <p:nvPr/>
        </p:nvSpPr>
        <p:spPr>
          <a:xfrm>
            <a:off x="3986784" y="1243584"/>
            <a:ext cx="4480560" cy="4425696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38" name="Text 27"/>
          <p:cNvSpPr txBox="1"/>
          <p:nvPr/>
        </p:nvSpPr>
        <p:spPr>
          <a:xfrm>
            <a:off x="4206240" y="13898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/ ADMIN VERIFICATION</a:t>
            </a:r>
            <a:endParaRPr lang="en-US" sz="1050" dirty="0"/>
          </a:p>
        </p:txBody>
      </p:sp>
      <p:sp>
        <p:nvSpPr>
          <p:cNvPr id="39" name="Shape 28"/>
          <p:cNvSpPr/>
          <p:nvPr/>
        </p:nvSpPr>
        <p:spPr>
          <a:xfrm>
            <a:off x="7626096" y="1389888"/>
            <a:ext cx="621792" cy="237744"/>
          </a:xfrm>
          <a:prstGeom prst="roundRect">
            <a:avLst>
              <a:gd name="adj" fmla="val 26923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0" name="Text 29"/>
          <p:cNvSpPr txBox="1"/>
          <p:nvPr/>
        </p:nvSpPr>
        <p:spPr>
          <a:xfrm>
            <a:off x="7626096" y="138988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900" dirty="0"/>
          </a:p>
        </p:txBody>
      </p:sp>
      <p:sp>
        <p:nvSpPr>
          <p:cNvPr id="41" name="Text 30"/>
          <p:cNvSpPr txBox="1"/>
          <p:nvPr/>
        </p:nvSpPr>
        <p:spPr>
          <a:xfrm>
            <a:off x="4261104" y="1755648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4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850" dirty="0"/>
          </a:p>
        </p:txBody>
      </p:sp>
      <p:sp>
        <p:nvSpPr>
          <p:cNvPr id="42" name="Text 31"/>
          <p:cNvSpPr txBox="1"/>
          <p:nvPr/>
        </p:nvSpPr>
        <p:spPr>
          <a:xfrm>
            <a:off x="5303520" y="175564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4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/50</a:t>
            </a:r>
            <a:endParaRPr lang="en-US" sz="850" dirty="0"/>
          </a:p>
        </p:txBody>
      </p:sp>
      <p:sp>
        <p:nvSpPr>
          <p:cNvPr id="43" name="Text 32"/>
          <p:cNvSpPr txBox="1"/>
          <p:nvPr/>
        </p:nvSpPr>
        <p:spPr>
          <a:xfrm>
            <a:off x="5870448" y="175564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4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/25</a:t>
            </a:r>
            <a:endParaRPr lang="en-US" sz="850" dirty="0"/>
          </a:p>
        </p:txBody>
      </p:sp>
      <p:sp>
        <p:nvSpPr>
          <p:cNvPr id="44" name="Text 33"/>
          <p:cNvSpPr txBox="1"/>
          <p:nvPr/>
        </p:nvSpPr>
        <p:spPr>
          <a:xfrm>
            <a:off x="6437376" y="175564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4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/25</a:t>
            </a:r>
            <a:endParaRPr lang="en-US" sz="850" dirty="0"/>
          </a:p>
        </p:txBody>
      </p:sp>
      <p:sp>
        <p:nvSpPr>
          <p:cNvPr id="45" name="Text 34"/>
          <p:cNvSpPr txBox="1"/>
          <p:nvPr/>
        </p:nvSpPr>
        <p:spPr>
          <a:xfrm>
            <a:off x="7040880" y="175564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4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850" dirty="0"/>
          </a:p>
        </p:txBody>
      </p:sp>
      <p:sp>
        <p:nvSpPr>
          <p:cNvPr id="46" name="Text 35"/>
          <p:cNvSpPr txBox="1"/>
          <p:nvPr/>
        </p:nvSpPr>
        <p:spPr>
          <a:xfrm>
            <a:off x="7552944" y="1755648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4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47" name="Shape 36"/>
          <p:cNvSpPr/>
          <p:nvPr/>
        </p:nvSpPr>
        <p:spPr>
          <a:xfrm>
            <a:off x="4206240" y="1975104"/>
            <a:ext cx="4041648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8" name="Shape 37"/>
          <p:cNvSpPr/>
          <p:nvPr/>
        </p:nvSpPr>
        <p:spPr>
          <a:xfrm>
            <a:off x="4206240" y="2048256"/>
            <a:ext cx="4041648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9" name="Text 38"/>
          <p:cNvSpPr txBox="1"/>
          <p:nvPr/>
        </p:nvSpPr>
        <p:spPr>
          <a:xfrm>
            <a:off x="4261104" y="2066544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Alpha</a:t>
            </a:r>
            <a:endParaRPr lang="en-US" sz="1000" dirty="0"/>
          </a:p>
        </p:txBody>
      </p:sp>
      <p:sp>
        <p:nvSpPr>
          <p:cNvPr id="50" name="Text 39"/>
          <p:cNvSpPr txBox="1"/>
          <p:nvPr/>
        </p:nvSpPr>
        <p:spPr>
          <a:xfrm>
            <a:off x="5303520" y="2066544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51" name="Text 40"/>
          <p:cNvSpPr txBox="1"/>
          <p:nvPr/>
        </p:nvSpPr>
        <p:spPr>
          <a:xfrm>
            <a:off x="5870448" y="2066544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2" name="Text 41"/>
          <p:cNvSpPr txBox="1"/>
          <p:nvPr/>
        </p:nvSpPr>
        <p:spPr>
          <a:xfrm>
            <a:off x="6437376" y="2066544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3" name="Text 42"/>
          <p:cNvSpPr txBox="1"/>
          <p:nvPr/>
        </p:nvSpPr>
        <p:spPr>
          <a:xfrm>
            <a:off x="7040880" y="2066544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1150" dirty="0"/>
          </a:p>
        </p:txBody>
      </p:sp>
      <p:sp>
        <p:nvSpPr>
          <p:cNvPr id="54" name="Shape 43"/>
          <p:cNvSpPr/>
          <p:nvPr/>
        </p:nvSpPr>
        <p:spPr>
          <a:xfrm>
            <a:off x="7552944" y="2103120"/>
            <a:ext cx="694944" cy="256032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55" name="Text 44"/>
          <p:cNvSpPr txBox="1"/>
          <p:nvPr/>
        </p:nvSpPr>
        <p:spPr>
          <a:xfrm>
            <a:off x="7552944" y="2103120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700" dirty="0"/>
          </a:p>
        </p:txBody>
      </p:sp>
      <p:sp>
        <p:nvSpPr>
          <p:cNvPr id="56" name="Text 45"/>
          <p:cNvSpPr txBox="1"/>
          <p:nvPr/>
        </p:nvSpPr>
        <p:spPr>
          <a:xfrm>
            <a:off x="4261104" y="2450592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Beta</a:t>
            </a:r>
            <a:endParaRPr lang="en-US" sz="1000" dirty="0"/>
          </a:p>
        </p:txBody>
      </p:sp>
      <p:sp>
        <p:nvSpPr>
          <p:cNvPr id="57" name="Text 46"/>
          <p:cNvSpPr txBox="1"/>
          <p:nvPr/>
        </p:nvSpPr>
        <p:spPr>
          <a:xfrm>
            <a:off x="5303520" y="245059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58" name="Text 47"/>
          <p:cNvSpPr txBox="1"/>
          <p:nvPr/>
        </p:nvSpPr>
        <p:spPr>
          <a:xfrm>
            <a:off x="5870448" y="245059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9" name="Text 48"/>
          <p:cNvSpPr txBox="1"/>
          <p:nvPr/>
        </p:nvSpPr>
        <p:spPr>
          <a:xfrm>
            <a:off x="6437376" y="245059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60" name="Text 49"/>
          <p:cNvSpPr txBox="1"/>
          <p:nvPr/>
        </p:nvSpPr>
        <p:spPr>
          <a:xfrm>
            <a:off x="7040880" y="245059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1150" dirty="0"/>
          </a:p>
        </p:txBody>
      </p:sp>
      <p:sp>
        <p:nvSpPr>
          <p:cNvPr id="61" name="Shape 50"/>
          <p:cNvSpPr/>
          <p:nvPr/>
        </p:nvSpPr>
        <p:spPr>
          <a:xfrm>
            <a:off x="7552944" y="2487168"/>
            <a:ext cx="694944" cy="256032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62" name="Text 51"/>
          <p:cNvSpPr txBox="1"/>
          <p:nvPr/>
        </p:nvSpPr>
        <p:spPr>
          <a:xfrm>
            <a:off x="7552944" y="2487168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700" dirty="0"/>
          </a:p>
        </p:txBody>
      </p:sp>
      <p:sp>
        <p:nvSpPr>
          <p:cNvPr id="63" name="Shape 52"/>
          <p:cNvSpPr/>
          <p:nvPr/>
        </p:nvSpPr>
        <p:spPr>
          <a:xfrm>
            <a:off x="4206240" y="2816352"/>
            <a:ext cx="4041648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4" name="Text 53"/>
          <p:cNvSpPr txBox="1"/>
          <p:nvPr/>
        </p:nvSpPr>
        <p:spPr>
          <a:xfrm>
            <a:off x="4261104" y="2834640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Gamma</a:t>
            </a:r>
            <a:endParaRPr lang="en-US" sz="1000" dirty="0"/>
          </a:p>
        </p:txBody>
      </p:sp>
      <p:sp>
        <p:nvSpPr>
          <p:cNvPr id="65" name="Text 54"/>
          <p:cNvSpPr txBox="1"/>
          <p:nvPr/>
        </p:nvSpPr>
        <p:spPr>
          <a:xfrm>
            <a:off x="5303520" y="2834640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66" name="Text 55"/>
          <p:cNvSpPr txBox="1"/>
          <p:nvPr/>
        </p:nvSpPr>
        <p:spPr>
          <a:xfrm>
            <a:off x="5870448" y="2834640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67" name="Text 56"/>
          <p:cNvSpPr txBox="1"/>
          <p:nvPr/>
        </p:nvSpPr>
        <p:spPr>
          <a:xfrm>
            <a:off x="6437376" y="283464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68" name="Text 57"/>
          <p:cNvSpPr txBox="1"/>
          <p:nvPr/>
        </p:nvSpPr>
        <p:spPr>
          <a:xfrm>
            <a:off x="7040880" y="2834640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150" dirty="0"/>
          </a:p>
        </p:txBody>
      </p:sp>
      <p:sp>
        <p:nvSpPr>
          <p:cNvPr id="69" name="Shape 58"/>
          <p:cNvSpPr/>
          <p:nvPr/>
        </p:nvSpPr>
        <p:spPr>
          <a:xfrm>
            <a:off x="7552944" y="2871216"/>
            <a:ext cx="694944" cy="256032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70" name="Text 59"/>
          <p:cNvSpPr txBox="1"/>
          <p:nvPr/>
        </p:nvSpPr>
        <p:spPr>
          <a:xfrm>
            <a:off x="7552944" y="2871216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700" dirty="0"/>
          </a:p>
        </p:txBody>
      </p:sp>
      <p:sp>
        <p:nvSpPr>
          <p:cNvPr id="71" name="Text 60"/>
          <p:cNvSpPr txBox="1"/>
          <p:nvPr/>
        </p:nvSpPr>
        <p:spPr>
          <a:xfrm>
            <a:off x="4261104" y="3218688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Delta</a:t>
            </a:r>
            <a:endParaRPr lang="en-US" sz="1000" dirty="0"/>
          </a:p>
        </p:txBody>
      </p:sp>
      <p:sp>
        <p:nvSpPr>
          <p:cNvPr id="72" name="Text 61"/>
          <p:cNvSpPr txBox="1"/>
          <p:nvPr/>
        </p:nvSpPr>
        <p:spPr>
          <a:xfrm>
            <a:off x="5303520" y="321868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73" name="Text 62"/>
          <p:cNvSpPr txBox="1"/>
          <p:nvPr/>
        </p:nvSpPr>
        <p:spPr>
          <a:xfrm>
            <a:off x="5870448" y="321868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74" name="Text 63"/>
          <p:cNvSpPr txBox="1"/>
          <p:nvPr/>
        </p:nvSpPr>
        <p:spPr>
          <a:xfrm>
            <a:off x="6437376" y="321868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75" name="Text 64"/>
          <p:cNvSpPr txBox="1"/>
          <p:nvPr/>
        </p:nvSpPr>
        <p:spPr>
          <a:xfrm>
            <a:off x="7040880" y="3218688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1150" dirty="0"/>
          </a:p>
        </p:txBody>
      </p:sp>
      <p:sp>
        <p:nvSpPr>
          <p:cNvPr id="76" name="Shape 65"/>
          <p:cNvSpPr/>
          <p:nvPr/>
        </p:nvSpPr>
        <p:spPr>
          <a:xfrm>
            <a:off x="7552944" y="3255264"/>
            <a:ext cx="694944" cy="256032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77" name="Text 66"/>
          <p:cNvSpPr txBox="1"/>
          <p:nvPr/>
        </p:nvSpPr>
        <p:spPr>
          <a:xfrm>
            <a:off x="7552944" y="3255264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700" dirty="0"/>
          </a:p>
        </p:txBody>
      </p:sp>
      <p:sp>
        <p:nvSpPr>
          <p:cNvPr id="78" name="Shape 67"/>
          <p:cNvSpPr/>
          <p:nvPr/>
        </p:nvSpPr>
        <p:spPr>
          <a:xfrm>
            <a:off x="4206240" y="3675888"/>
            <a:ext cx="4041648" cy="10973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7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42816" y="3858768"/>
            <a:ext cx="182880" cy="182880"/>
          </a:xfrm>
          <a:prstGeom prst="rect">
            <a:avLst/>
          </a:prstGeom>
        </p:spPr>
      </p:pic>
      <p:sp>
        <p:nvSpPr>
          <p:cNvPr id="80" name="Text 68"/>
          <p:cNvSpPr txBox="1"/>
          <p:nvPr/>
        </p:nvSpPr>
        <p:spPr>
          <a:xfrm>
            <a:off x="4517136" y="380390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</a:t>
            </a:r>
            <a:endParaRPr lang="en-US" sz="950" dirty="0"/>
          </a:p>
        </p:txBody>
      </p:sp>
      <p:sp>
        <p:nvSpPr>
          <p:cNvPr id="81" name="Text 69"/>
          <p:cNvSpPr txBox="1"/>
          <p:nvPr/>
        </p:nvSpPr>
        <p:spPr>
          <a:xfrm>
            <a:off x="6089904" y="3803904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within limits · 0 deductions</a:t>
            </a:r>
            <a:endParaRPr lang="en-US" sz="900" dirty="0"/>
          </a:p>
        </p:txBody>
      </p:sp>
      <p:pic>
        <p:nvPicPr>
          <p:cNvPr id="8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42816" y="4279392"/>
            <a:ext cx="182880" cy="182880"/>
          </a:xfrm>
          <a:prstGeom prst="rect">
            <a:avLst/>
          </a:prstGeom>
        </p:spPr>
      </p:pic>
      <p:sp>
        <p:nvSpPr>
          <p:cNvPr id="83" name="Text 70"/>
          <p:cNvSpPr txBox="1"/>
          <p:nvPr/>
        </p:nvSpPr>
        <p:spPr>
          <a:xfrm>
            <a:off x="4517136" y="42245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status</a:t>
            </a:r>
            <a:endParaRPr lang="en-US" sz="950" dirty="0"/>
          </a:p>
        </p:txBody>
      </p:sp>
      <p:sp>
        <p:nvSpPr>
          <p:cNvPr id="84" name="Text 71"/>
          <p:cNvSpPr txBox="1"/>
          <p:nvPr/>
        </p:nvSpPr>
        <p:spPr>
          <a:xfrm>
            <a:off x="6089904" y="4224528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completed · 0 incomplete · 0 absent</a:t>
            </a:r>
            <a:endParaRPr lang="en-US" sz="900" dirty="0"/>
          </a:p>
        </p:txBody>
      </p:sp>
      <p:pic>
        <p:nvPicPr>
          <p:cNvPr id="8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42816" y="4700016"/>
            <a:ext cx="182880" cy="182880"/>
          </a:xfrm>
          <a:prstGeom prst="rect">
            <a:avLst/>
          </a:prstGeom>
        </p:spPr>
      </p:pic>
      <p:sp>
        <p:nvSpPr>
          <p:cNvPr id="86" name="Text 72"/>
          <p:cNvSpPr txBox="1"/>
          <p:nvPr/>
        </p:nvSpPr>
        <p:spPr>
          <a:xfrm>
            <a:off x="4517136" y="464515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</a:t>
            </a:r>
            <a:endParaRPr lang="en-US" sz="950" dirty="0"/>
          </a:p>
        </p:txBody>
      </p:sp>
      <p:sp>
        <p:nvSpPr>
          <p:cNvPr id="87" name="Text 73"/>
          <p:cNvSpPr txBox="1"/>
          <p:nvPr/>
        </p:nvSpPr>
        <p:spPr>
          <a:xfrm>
            <a:off x="6089904" y="4645152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Faculty/Coordinator · AI &amp; Data Science</a:t>
            </a:r>
            <a:endParaRPr lang="en-US" sz="900" dirty="0"/>
          </a:p>
        </p:txBody>
      </p:sp>
      <p:pic>
        <p:nvPicPr>
          <p:cNvPr id="8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42816" y="5120640"/>
            <a:ext cx="182880" cy="182880"/>
          </a:xfrm>
          <a:prstGeom prst="rect">
            <a:avLst/>
          </a:prstGeom>
        </p:spPr>
      </p:pic>
      <p:sp>
        <p:nvSpPr>
          <p:cNvPr id="89" name="Text 74"/>
          <p:cNvSpPr txBox="1"/>
          <p:nvPr/>
        </p:nvSpPr>
        <p:spPr>
          <a:xfrm>
            <a:off x="4517136" y="506577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950" dirty="0"/>
          </a:p>
        </p:txBody>
      </p:sp>
      <p:sp>
        <p:nvSpPr>
          <p:cNvPr id="90" name="Text 75"/>
          <p:cNvSpPr txBox="1"/>
          <p:nvPr/>
        </p:nvSpPr>
        <p:spPr>
          <a:xfrm>
            <a:off x="6089904" y="5065776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for every team and student</a:t>
            </a:r>
            <a:endParaRPr lang="en-US" sz="900" dirty="0"/>
          </a:p>
        </p:txBody>
      </p:sp>
      <p:sp>
        <p:nvSpPr>
          <p:cNvPr id="91" name="Shape 76"/>
          <p:cNvSpPr/>
          <p:nvPr/>
        </p:nvSpPr>
        <p:spPr>
          <a:xfrm>
            <a:off x="8686800" y="1243584"/>
            <a:ext cx="2999232" cy="4425696"/>
          </a:xfrm>
          <a:prstGeom prst="roundRect">
            <a:avLst>
              <a:gd name="adj" fmla="val 213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92" name="Text 77"/>
          <p:cNvSpPr txBox="1"/>
          <p:nvPr/>
        </p:nvSpPr>
        <p:spPr>
          <a:xfrm>
            <a:off x="8906256" y="138988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050" dirty="0"/>
          </a:p>
        </p:txBody>
      </p:sp>
      <p:sp>
        <p:nvSpPr>
          <p:cNvPr id="93" name="Text 78"/>
          <p:cNvSpPr txBox="1"/>
          <p:nvPr/>
        </p:nvSpPr>
        <p:spPr>
          <a:xfrm>
            <a:off x="10680192" y="138988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</a:t>
            </a:r>
            <a:endParaRPr lang="en-US" sz="900" dirty="0"/>
          </a:p>
        </p:txBody>
      </p:sp>
      <p:sp>
        <p:nvSpPr>
          <p:cNvPr id="94" name="Text 79"/>
          <p:cNvSpPr txBox="1"/>
          <p:nvPr/>
        </p:nvSpPr>
        <p:spPr>
          <a:xfrm>
            <a:off x="8906256" y="166420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result view generated after verification — not a separate module.</a:t>
            </a:r>
            <a:endParaRPr lang="en-US" sz="850" dirty="0"/>
          </a:p>
        </p:txBody>
      </p:sp>
      <p:sp>
        <p:nvSpPr>
          <p:cNvPr id="95" name="Shape 80"/>
          <p:cNvSpPr/>
          <p:nvPr/>
        </p:nvSpPr>
        <p:spPr>
          <a:xfrm>
            <a:off x="8887968" y="2084832"/>
            <a:ext cx="2596896" cy="749808"/>
          </a:xfrm>
          <a:prstGeom prst="roundRect">
            <a:avLst>
              <a:gd name="adj" fmla="val 8537"/>
            </a:avLst>
          </a:prstGeom>
          <a:solidFill>
            <a:srgbClr val="EEF2FF"/>
          </a:solidFill>
          <a:ln w="12700">
            <a:solidFill>
              <a:srgbClr val="DDE3FF"/>
            </a:solidFill>
            <a:prstDash val="solid"/>
          </a:ln>
        </p:spPr>
      </p:sp>
      <p:sp>
        <p:nvSpPr>
          <p:cNvPr id="96" name="Shape 81"/>
          <p:cNvSpPr/>
          <p:nvPr/>
        </p:nvSpPr>
        <p:spPr>
          <a:xfrm>
            <a:off x="9034272" y="2249424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7" name="Text 82"/>
          <p:cNvSpPr txBox="1"/>
          <p:nvPr/>
        </p:nvSpPr>
        <p:spPr>
          <a:xfrm>
            <a:off x="9034272" y="2249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8" name="Text 83"/>
          <p:cNvSpPr txBox="1"/>
          <p:nvPr/>
        </p:nvSpPr>
        <p:spPr>
          <a:xfrm>
            <a:off x="9564624" y="22128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Alpha</a:t>
            </a:r>
            <a:endParaRPr lang="en-US" sz="1050" dirty="0"/>
          </a:p>
        </p:txBody>
      </p:sp>
      <p:sp>
        <p:nvSpPr>
          <p:cNvPr id="99" name="Shape 84"/>
          <p:cNvSpPr/>
          <p:nvPr/>
        </p:nvSpPr>
        <p:spPr>
          <a:xfrm>
            <a:off x="9564624" y="2523744"/>
            <a:ext cx="1298448" cy="82296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00" name="Shape 85"/>
          <p:cNvSpPr/>
          <p:nvPr/>
        </p:nvSpPr>
        <p:spPr>
          <a:xfrm>
            <a:off x="9564624" y="2523744"/>
            <a:ext cx="1261872" cy="8229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01" name="Text 86"/>
          <p:cNvSpPr txBox="1"/>
          <p:nvPr/>
        </p:nvSpPr>
        <p:spPr>
          <a:xfrm>
            <a:off x="10771632" y="2249424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1700" dirty="0"/>
          </a:p>
        </p:txBody>
      </p:sp>
      <p:sp>
        <p:nvSpPr>
          <p:cNvPr id="102" name="Shape 87"/>
          <p:cNvSpPr/>
          <p:nvPr/>
        </p:nvSpPr>
        <p:spPr>
          <a:xfrm>
            <a:off x="8887968" y="2953512"/>
            <a:ext cx="2596896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Shape 88"/>
          <p:cNvSpPr/>
          <p:nvPr/>
        </p:nvSpPr>
        <p:spPr>
          <a:xfrm>
            <a:off x="9034272" y="3118104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4" name="Text 89"/>
          <p:cNvSpPr txBox="1"/>
          <p:nvPr/>
        </p:nvSpPr>
        <p:spPr>
          <a:xfrm>
            <a:off x="9034272" y="3118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05" name="Text 90"/>
          <p:cNvSpPr txBox="1"/>
          <p:nvPr/>
        </p:nvSpPr>
        <p:spPr>
          <a:xfrm>
            <a:off x="9564624" y="30815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Beta</a:t>
            </a:r>
            <a:endParaRPr lang="en-US" sz="1050" dirty="0"/>
          </a:p>
        </p:txBody>
      </p:sp>
      <p:sp>
        <p:nvSpPr>
          <p:cNvPr id="106" name="Shape 91"/>
          <p:cNvSpPr/>
          <p:nvPr/>
        </p:nvSpPr>
        <p:spPr>
          <a:xfrm>
            <a:off x="9564624" y="3392424"/>
            <a:ext cx="1298448" cy="82296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07" name="Shape 92"/>
          <p:cNvSpPr/>
          <p:nvPr/>
        </p:nvSpPr>
        <p:spPr>
          <a:xfrm>
            <a:off x="9564624" y="3392424"/>
            <a:ext cx="1170432" cy="82296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08" name="Text 93"/>
          <p:cNvSpPr txBox="1"/>
          <p:nvPr/>
        </p:nvSpPr>
        <p:spPr>
          <a:xfrm>
            <a:off x="10771632" y="3118104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1700" dirty="0"/>
          </a:p>
        </p:txBody>
      </p:sp>
      <p:sp>
        <p:nvSpPr>
          <p:cNvPr id="109" name="Shape 94"/>
          <p:cNvSpPr/>
          <p:nvPr/>
        </p:nvSpPr>
        <p:spPr>
          <a:xfrm>
            <a:off x="8887968" y="3822192"/>
            <a:ext cx="2596896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0" name="Shape 95"/>
          <p:cNvSpPr/>
          <p:nvPr/>
        </p:nvSpPr>
        <p:spPr>
          <a:xfrm>
            <a:off x="9034272" y="3986784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1" name="Text 96"/>
          <p:cNvSpPr txBox="1"/>
          <p:nvPr/>
        </p:nvSpPr>
        <p:spPr>
          <a:xfrm>
            <a:off x="9034272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12" name="Text 97"/>
          <p:cNvSpPr txBox="1"/>
          <p:nvPr/>
        </p:nvSpPr>
        <p:spPr>
          <a:xfrm>
            <a:off x="9564624" y="39502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Gamma</a:t>
            </a:r>
            <a:endParaRPr lang="en-US" sz="1050" dirty="0"/>
          </a:p>
        </p:txBody>
      </p:sp>
      <p:sp>
        <p:nvSpPr>
          <p:cNvPr id="113" name="Shape 98"/>
          <p:cNvSpPr/>
          <p:nvPr/>
        </p:nvSpPr>
        <p:spPr>
          <a:xfrm>
            <a:off x="9564624" y="4261104"/>
            <a:ext cx="1298448" cy="82296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14" name="Shape 99"/>
          <p:cNvSpPr/>
          <p:nvPr/>
        </p:nvSpPr>
        <p:spPr>
          <a:xfrm>
            <a:off x="9564624" y="4261104"/>
            <a:ext cx="1088136" cy="8229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5" name="Text 100"/>
          <p:cNvSpPr txBox="1"/>
          <p:nvPr/>
        </p:nvSpPr>
        <p:spPr>
          <a:xfrm>
            <a:off x="10771632" y="3986784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700" dirty="0"/>
          </a:p>
        </p:txBody>
      </p:sp>
      <p:sp>
        <p:nvSpPr>
          <p:cNvPr id="116" name="Shape 101"/>
          <p:cNvSpPr/>
          <p:nvPr/>
        </p:nvSpPr>
        <p:spPr>
          <a:xfrm>
            <a:off x="8887968" y="4690872"/>
            <a:ext cx="2596896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7" name="Shape 102"/>
          <p:cNvSpPr/>
          <p:nvPr/>
        </p:nvSpPr>
        <p:spPr>
          <a:xfrm>
            <a:off x="9034272" y="4855464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8" name="Text 103"/>
          <p:cNvSpPr txBox="1"/>
          <p:nvPr/>
        </p:nvSpPr>
        <p:spPr>
          <a:xfrm>
            <a:off x="9034272" y="48554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19" name="Text 104"/>
          <p:cNvSpPr txBox="1"/>
          <p:nvPr/>
        </p:nvSpPr>
        <p:spPr>
          <a:xfrm>
            <a:off x="9564624" y="48188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Delta</a:t>
            </a:r>
            <a:endParaRPr lang="en-US" sz="1050" dirty="0"/>
          </a:p>
        </p:txBody>
      </p:sp>
      <p:sp>
        <p:nvSpPr>
          <p:cNvPr id="120" name="Shape 105"/>
          <p:cNvSpPr/>
          <p:nvPr/>
        </p:nvSpPr>
        <p:spPr>
          <a:xfrm>
            <a:off x="9564624" y="5129784"/>
            <a:ext cx="1298448" cy="82296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21" name="Shape 106"/>
          <p:cNvSpPr/>
          <p:nvPr/>
        </p:nvSpPr>
        <p:spPr>
          <a:xfrm>
            <a:off x="9564624" y="5129784"/>
            <a:ext cx="1024128" cy="82296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22" name="Text 107"/>
          <p:cNvSpPr txBox="1"/>
          <p:nvPr/>
        </p:nvSpPr>
        <p:spPr>
          <a:xfrm>
            <a:off x="10771632" y="4855464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1700" dirty="0"/>
          </a:p>
        </p:txBody>
      </p:sp>
      <p:sp>
        <p:nvSpPr>
          <p:cNvPr id="123" name="Shape 108"/>
          <p:cNvSpPr/>
          <p:nvPr/>
        </p:nvSpPr>
        <p:spPr>
          <a:xfrm>
            <a:off x="502920" y="5833872"/>
            <a:ext cx="11185855" cy="585216"/>
          </a:xfrm>
          <a:prstGeom prst="roundRect">
            <a:avLst>
              <a:gd name="adj" fmla="val 109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2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2376" y="6016752"/>
            <a:ext cx="201168" cy="201168"/>
          </a:xfrm>
          <a:prstGeom prst="rect">
            <a:avLst/>
          </a:prstGeom>
        </p:spPr>
      </p:pic>
      <p:sp>
        <p:nvSpPr>
          <p:cNvPr id="125" name="Text 109"/>
          <p:cNvSpPr txBox="1"/>
          <p:nvPr/>
        </p:nvSpPr>
        <p:spPr>
          <a:xfrm>
            <a:off x="996696" y="590702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TEAM CAN SEE</a:t>
            </a:r>
            <a:endParaRPr lang="en-US" sz="850" dirty="0"/>
          </a:p>
        </p:txBody>
      </p:sp>
      <p:sp>
        <p:nvSpPr>
          <p:cNvPr id="126" name="Text 110"/>
          <p:cNvSpPr txBox="1"/>
          <p:nvPr/>
        </p:nvSpPr>
        <p:spPr>
          <a:xfrm>
            <a:off x="996696" y="6108192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complete evaluation, score, feedback, improvement plan and rank  ·  Other teams' score and rank</a:t>
            </a:r>
            <a:endParaRPr lang="en-US" sz="900" dirty="0"/>
          </a:p>
        </p:txBody>
      </p:sp>
      <p:sp>
        <p:nvSpPr>
          <p:cNvPr id="127" name="Shape 111"/>
          <p:cNvSpPr/>
          <p:nvPr/>
        </p:nvSpPr>
        <p:spPr>
          <a:xfrm>
            <a:off x="6675120" y="5943600"/>
            <a:ext cx="10973" cy="365760"/>
          </a:xfrm>
          <a:prstGeom prst="rect">
            <a:avLst/>
          </a:prstGeom>
          <a:solidFill>
            <a:srgbClr val="CBD5E1"/>
          </a:solidFill>
          <a:ln/>
        </p:spPr>
      </p:sp>
      <p:pic>
        <p:nvPicPr>
          <p:cNvPr id="12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94576" y="6016752"/>
            <a:ext cx="201168" cy="201168"/>
          </a:xfrm>
          <a:prstGeom prst="rect">
            <a:avLst/>
          </a:prstGeom>
        </p:spPr>
      </p:pic>
      <p:sp>
        <p:nvSpPr>
          <p:cNvPr id="129" name="Text 112"/>
          <p:cNvSpPr txBox="1"/>
          <p:nvPr/>
        </p:nvSpPr>
        <p:spPr>
          <a:xfrm>
            <a:off x="7168896" y="590702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/ TEAM CANNOT SEE</a:t>
            </a:r>
            <a:endParaRPr lang="en-US" sz="850" dirty="0"/>
          </a:p>
        </p:txBody>
      </p:sp>
      <p:sp>
        <p:nvSpPr>
          <p:cNvPr id="130" name="Text 113"/>
          <p:cNvSpPr txBox="1"/>
          <p:nvPr/>
        </p:nvSpPr>
        <p:spPr>
          <a:xfrm>
            <a:off x="7168896" y="610819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teams' detailed reports, evaluation breakdown or private feedback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38328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9848" y="365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·  FEASIBILITY  ·  FUTURE SCOPE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1042416" y="566928"/>
            <a:ext cx="10515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Provalix AI?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1261872"/>
            <a:ext cx="3570122" cy="3749040"/>
          </a:xfrm>
          <a:prstGeom prst="roundRect">
            <a:avLst>
              <a:gd name="adj" fmla="val 17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22376" y="146304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536192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16152" y="14630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103120"/>
            <a:ext cx="182880" cy="18288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14984" y="2048256"/>
            <a:ext cx="28203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evaluation workload</a:t>
            </a:r>
            <a:endParaRPr lang="en-US" sz="10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505456"/>
            <a:ext cx="182880" cy="18288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14984" y="2450592"/>
            <a:ext cx="28203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Standardizes AI-based assessment</a:t>
            </a:r>
            <a:endParaRPr lang="en-US" sz="10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2907792"/>
            <a:ext cx="182880" cy="18288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014984" y="2852928"/>
            <a:ext cx="28203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large-scale project evaluation</a:t>
            </a:r>
            <a:endParaRPr lang="en-US" sz="10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3310128"/>
            <a:ext cx="182880" cy="182880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014984" y="3255264"/>
            <a:ext cx="28203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transparency of results</a:t>
            </a:r>
            <a:endParaRPr lang="en-US" sz="10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3712464"/>
            <a:ext cx="182880" cy="182880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1014984" y="3657600"/>
            <a:ext cx="28203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Centralizes submissions and evaluation</a:t>
            </a:r>
            <a:endParaRPr lang="en-US" sz="105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664" y="4114800"/>
            <a:ext cx="182880" cy="182880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1014984" y="4059936"/>
            <a:ext cx="28203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actionable feedback</a:t>
            </a:r>
            <a:endParaRPr lang="en-US" sz="1050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0664" y="4517136"/>
            <a:ext cx="182880" cy="182880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1014984" y="4462272"/>
            <a:ext cx="28203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result generation and leaderboard</a:t>
            </a:r>
            <a:endParaRPr lang="en-US" sz="1050" dirty="0"/>
          </a:p>
        </p:txBody>
      </p:sp>
      <p:sp>
        <p:nvSpPr>
          <p:cNvPr id="23" name="Shape 12"/>
          <p:cNvSpPr/>
          <p:nvPr/>
        </p:nvSpPr>
        <p:spPr>
          <a:xfrm>
            <a:off x="4310786" y="1261872"/>
            <a:ext cx="3570122" cy="3749040"/>
          </a:xfrm>
          <a:prstGeom prst="roundRect">
            <a:avLst>
              <a:gd name="adj" fmla="val 17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24" name="Shape 13"/>
          <p:cNvSpPr/>
          <p:nvPr/>
        </p:nvSpPr>
        <p:spPr>
          <a:xfrm>
            <a:off x="4530242" y="146304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03394" y="1536192"/>
            <a:ext cx="237744" cy="237744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5024018" y="14630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500" dirty="0"/>
          </a:p>
        </p:txBody>
      </p:sp>
      <p:sp>
        <p:nvSpPr>
          <p:cNvPr id="27" name="Shape 15"/>
          <p:cNvSpPr/>
          <p:nvPr/>
        </p:nvSpPr>
        <p:spPr>
          <a:xfrm>
            <a:off x="4530242" y="2048256"/>
            <a:ext cx="1492453" cy="530352"/>
          </a:xfrm>
          <a:prstGeom prst="roundRect">
            <a:avLst>
              <a:gd name="adj" fmla="val 1206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16"/>
          <p:cNvSpPr txBox="1"/>
          <p:nvPr/>
        </p:nvSpPr>
        <p:spPr>
          <a:xfrm>
            <a:off x="4658258" y="2112264"/>
            <a:ext cx="12364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000" dirty="0"/>
          </a:p>
        </p:txBody>
      </p:sp>
      <p:sp>
        <p:nvSpPr>
          <p:cNvPr id="29" name="Text 17"/>
          <p:cNvSpPr txBox="1"/>
          <p:nvPr/>
        </p:nvSpPr>
        <p:spPr>
          <a:xfrm>
            <a:off x="4658258" y="2331720"/>
            <a:ext cx="12364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 dirty="0"/>
          </a:p>
        </p:txBody>
      </p:sp>
      <p:sp>
        <p:nvSpPr>
          <p:cNvPr id="30" name="Shape 18"/>
          <p:cNvSpPr/>
          <p:nvPr/>
        </p:nvSpPr>
        <p:spPr>
          <a:xfrm>
            <a:off x="6169000" y="2048256"/>
            <a:ext cx="1492453" cy="530352"/>
          </a:xfrm>
          <a:prstGeom prst="roundRect">
            <a:avLst>
              <a:gd name="adj" fmla="val 1206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19"/>
          <p:cNvSpPr txBox="1"/>
          <p:nvPr/>
        </p:nvSpPr>
        <p:spPr>
          <a:xfrm>
            <a:off x="6297016" y="2112264"/>
            <a:ext cx="12364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</a:t>
            </a:r>
            <a:endParaRPr lang="en-US" sz="1000" dirty="0"/>
          </a:p>
        </p:txBody>
      </p:sp>
      <p:sp>
        <p:nvSpPr>
          <p:cNvPr id="32" name="Text 20"/>
          <p:cNvSpPr txBox="1"/>
          <p:nvPr/>
        </p:nvSpPr>
        <p:spPr>
          <a:xfrm>
            <a:off x="6297016" y="2331720"/>
            <a:ext cx="12364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50" dirty="0"/>
          </a:p>
        </p:txBody>
      </p:sp>
      <p:sp>
        <p:nvSpPr>
          <p:cNvPr id="33" name="Shape 21"/>
          <p:cNvSpPr/>
          <p:nvPr/>
        </p:nvSpPr>
        <p:spPr>
          <a:xfrm>
            <a:off x="4530242" y="2670048"/>
            <a:ext cx="1492453" cy="530352"/>
          </a:xfrm>
          <a:prstGeom prst="roundRect">
            <a:avLst>
              <a:gd name="adj" fmla="val 1206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22"/>
          <p:cNvSpPr txBox="1"/>
          <p:nvPr/>
        </p:nvSpPr>
        <p:spPr>
          <a:xfrm>
            <a:off x="4658258" y="2734056"/>
            <a:ext cx="12364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4658258" y="2953512"/>
            <a:ext cx="12364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50" dirty="0"/>
          </a:p>
        </p:txBody>
      </p:sp>
      <p:sp>
        <p:nvSpPr>
          <p:cNvPr id="36" name="Shape 24"/>
          <p:cNvSpPr/>
          <p:nvPr/>
        </p:nvSpPr>
        <p:spPr>
          <a:xfrm>
            <a:off x="6169000" y="2670048"/>
            <a:ext cx="1492453" cy="530352"/>
          </a:xfrm>
          <a:prstGeom prst="roundRect">
            <a:avLst>
              <a:gd name="adj" fmla="val 1206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25"/>
          <p:cNvSpPr txBox="1"/>
          <p:nvPr/>
        </p:nvSpPr>
        <p:spPr>
          <a:xfrm>
            <a:off x="6297016" y="2734056"/>
            <a:ext cx="12364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</a:t>
            </a:r>
            <a:endParaRPr lang="en-US" sz="1000" dirty="0"/>
          </a:p>
        </p:txBody>
      </p:sp>
      <p:sp>
        <p:nvSpPr>
          <p:cNvPr id="38" name="Text 26"/>
          <p:cNvSpPr txBox="1"/>
          <p:nvPr/>
        </p:nvSpPr>
        <p:spPr>
          <a:xfrm>
            <a:off x="6297016" y="2953512"/>
            <a:ext cx="12364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services</a:t>
            </a:r>
            <a:endParaRPr lang="en-US" sz="850" dirty="0"/>
          </a:p>
        </p:txBody>
      </p:sp>
      <p:sp>
        <p:nvSpPr>
          <p:cNvPr id="39" name="Shape 27"/>
          <p:cNvSpPr/>
          <p:nvPr/>
        </p:nvSpPr>
        <p:spPr>
          <a:xfrm>
            <a:off x="4530242" y="3291840"/>
            <a:ext cx="1492453" cy="530352"/>
          </a:xfrm>
          <a:prstGeom prst="roundRect">
            <a:avLst>
              <a:gd name="adj" fmla="val 1206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28"/>
          <p:cNvSpPr txBox="1"/>
          <p:nvPr/>
        </p:nvSpPr>
        <p:spPr>
          <a:xfrm>
            <a:off x="4658258" y="3355848"/>
            <a:ext cx="12364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 AI APIs</a:t>
            </a:r>
            <a:endParaRPr lang="en-US" sz="1000" dirty="0"/>
          </a:p>
        </p:txBody>
      </p:sp>
      <p:sp>
        <p:nvSpPr>
          <p:cNvPr id="41" name="Text 29"/>
          <p:cNvSpPr txBox="1"/>
          <p:nvPr/>
        </p:nvSpPr>
        <p:spPr>
          <a:xfrm>
            <a:off x="4658258" y="3575304"/>
            <a:ext cx="12364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engine</a:t>
            </a:r>
            <a:endParaRPr lang="en-US" sz="850" dirty="0"/>
          </a:p>
        </p:txBody>
      </p:sp>
      <p:sp>
        <p:nvSpPr>
          <p:cNvPr id="42" name="Shape 30"/>
          <p:cNvSpPr/>
          <p:nvPr/>
        </p:nvSpPr>
        <p:spPr>
          <a:xfrm>
            <a:off x="6169000" y="3291840"/>
            <a:ext cx="1492453" cy="530352"/>
          </a:xfrm>
          <a:prstGeom prst="roundRect">
            <a:avLst>
              <a:gd name="adj" fmla="val 1206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31"/>
          <p:cNvSpPr txBox="1"/>
          <p:nvPr/>
        </p:nvSpPr>
        <p:spPr>
          <a:xfrm>
            <a:off x="6297016" y="3355848"/>
            <a:ext cx="12364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Analysis</a:t>
            </a:r>
            <a:endParaRPr lang="en-US" sz="1000" dirty="0"/>
          </a:p>
        </p:txBody>
      </p:sp>
      <p:sp>
        <p:nvSpPr>
          <p:cNvPr id="44" name="Text 32"/>
          <p:cNvSpPr txBox="1"/>
          <p:nvPr/>
        </p:nvSpPr>
        <p:spPr>
          <a:xfrm>
            <a:off x="6297016" y="3575304"/>
            <a:ext cx="12364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</a:t>
            </a:r>
            <a:endParaRPr lang="en-US" sz="850" dirty="0"/>
          </a:p>
        </p:txBody>
      </p:sp>
      <p:sp>
        <p:nvSpPr>
          <p:cNvPr id="45" name="Shape 33"/>
          <p:cNvSpPr/>
          <p:nvPr/>
        </p:nvSpPr>
        <p:spPr>
          <a:xfrm>
            <a:off x="4530242" y="3913632"/>
            <a:ext cx="1492453" cy="530352"/>
          </a:xfrm>
          <a:prstGeom prst="roundRect">
            <a:avLst>
              <a:gd name="adj" fmla="val 1206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34"/>
          <p:cNvSpPr txBox="1"/>
          <p:nvPr/>
        </p:nvSpPr>
        <p:spPr>
          <a:xfrm>
            <a:off x="4658258" y="3977640"/>
            <a:ext cx="12364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File Processing</a:t>
            </a:r>
            <a:endParaRPr lang="en-US" sz="1000" dirty="0"/>
          </a:p>
        </p:txBody>
      </p:sp>
      <p:sp>
        <p:nvSpPr>
          <p:cNvPr id="47" name="Text 35"/>
          <p:cNvSpPr txBox="1"/>
          <p:nvPr/>
        </p:nvSpPr>
        <p:spPr>
          <a:xfrm>
            <a:off x="4658258" y="4197096"/>
            <a:ext cx="12364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</a:t>
            </a:r>
            <a:endParaRPr lang="en-US" sz="850" dirty="0"/>
          </a:p>
        </p:txBody>
      </p:sp>
      <p:sp>
        <p:nvSpPr>
          <p:cNvPr id="48" name="Shape 36"/>
          <p:cNvSpPr/>
          <p:nvPr/>
        </p:nvSpPr>
        <p:spPr>
          <a:xfrm>
            <a:off x="6169000" y="3913632"/>
            <a:ext cx="1492453" cy="530352"/>
          </a:xfrm>
          <a:prstGeom prst="roundRect">
            <a:avLst>
              <a:gd name="adj" fmla="val 1206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37"/>
          <p:cNvSpPr txBox="1"/>
          <p:nvPr/>
        </p:nvSpPr>
        <p:spPr>
          <a:xfrm>
            <a:off x="6297016" y="3977640"/>
            <a:ext cx="12364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000" dirty="0"/>
          </a:p>
        </p:txBody>
      </p:sp>
      <p:sp>
        <p:nvSpPr>
          <p:cNvPr id="50" name="Text 38"/>
          <p:cNvSpPr txBox="1"/>
          <p:nvPr/>
        </p:nvSpPr>
        <p:spPr>
          <a:xfrm>
            <a:off x="6297016" y="4197096"/>
            <a:ext cx="123642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850" dirty="0"/>
          </a:p>
        </p:txBody>
      </p:sp>
      <p:sp>
        <p:nvSpPr>
          <p:cNvPr id="51" name="Text 39"/>
          <p:cNvSpPr txBox="1"/>
          <p:nvPr/>
        </p:nvSpPr>
        <p:spPr>
          <a:xfrm>
            <a:off x="4530242" y="4608576"/>
            <a:ext cx="31312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 suitable for future institutional deployment.</a:t>
            </a:r>
            <a:endParaRPr lang="en-US" sz="900" dirty="0"/>
          </a:p>
        </p:txBody>
      </p:sp>
      <p:sp>
        <p:nvSpPr>
          <p:cNvPr id="52" name="Shape 40"/>
          <p:cNvSpPr/>
          <p:nvPr/>
        </p:nvSpPr>
        <p:spPr>
          <a:xfrm>
            <a:off x="8118653" y="1261872"/>
            <a:ext cx="3570122" cy="3749040"/>
          </a:xfrm>
          <a:prstGeom prst="roundRect">
            <a:avLst>
              <a:gd name="adj" fmla="val 17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F172A">
                <a:alpha val="6000"/>
              </a:srgbClr>
            </a:outerShdw>
          </a:effectLst>
        </p:spPr>
      </p:sp>
      <p:sp>
        <p:nvSpPr>
          <p:cNvPr id="53" name="Shape 41"/>
          <p:cNvSpPr/>
          <p:nvPr/>
        </p:nvSpPr>
        <p:spPr>
          <a:xfrm>
            <a:off x="8338109" y="146304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</p:sp>
      <p:pic>
        <p:nvPicPr>
          <p:cNvPr id="5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11261" y="1536192"/>
            <a:ext cx="237744" cy="237744"/>
          </a:xfrm>
          <a:prstGeom prst="rect">
            <a:avLst/>
          </a:prstGeom>
        </p:spPr>
      </p:pic>
      <p:sp>
        <p:nvSpPr>
          <p:cNvPr id="55" name="Text 42"/>
          <p:cNvSpPr txBox="1"/>
          <p:nvPr/>
        </p:nvSpPr>
        <p:spPr>
          <a:xfrm>
            <a:off x="8831885" y="1463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</p:txBody>
      </p:sp>
      <p:pic>
        <p:nvPicPr>
          <p:cNvPr id="5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56397" y="2103120"/>
            <a:ext cx="182880" cy="182880"/>
          </a:xfrm>
          <a:prstGeom prst="rect">
            <a:avLst/>
          </a:prstGeom>
        </p:spPr>
      </p:pic>
      <p:sp>
        <p:nvSpPr>
          <p:cNvPr id="57" name="Text 43"/>
          <p:cNvSpPr txBox="1"/>
          <p:nvPr/>
        </p:nvSpPr>
        <p:spPr>
          <a:xfrm>
            <a:off x="8630717" y="2048256"/>
            <a:ext cx="28203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code quality analysis</a:t>
            </a:r>
            <a:endParaRPr lang="en-US" sz="1050" dirty="0"/>
          </a:p>
        </p:txBody>
      </p:sp>
      <p:pic>
        <p:nvPicPr>
          <p:cNvPr id="5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56397" y="2505456"/>
            <a:ext cx="182880" cy="182880"/>
          </a:xfrm>
          <a:prstGeom prst="rect">
            <a:avLst/>
          </a:prstGeom>
        </p:spPr>
      </p:pic>
      <p:sp>
        <p:nvSpPr>
          <p:cNvPr id="59" name="Text 44"/>
          <p:cNvSpPr txBox="1"/>
          <p:nvPr/>
        </p:nvSpPr>
        <p:spPr>
          <a:xfrm>
            <a:off x="8630717" y="2450592"/>
            <a:ext cx="28203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programming language support</a:t>
            </a:r>
            <a:endParaRPr lang="en-US" sz="1050" dirty="0"/>
          </a:p>
        </p:txBody>
      </p:sp>
      <p:pic>
        <p:nvPicPr>
          <p:cNvPr id="6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56397" y="2907792"/>
            <a:ext cx="182880" cy="182880"/>
          </a:xfrm>
          <a:prstGeom prst="rect">
            <a:avLst/>
          </a:prstGeom>
        </p:spPr>
      </p:pic>
      <p:sp>
        <p:nvSpPr>
          <p:cNvPr id="61" name="Text 45"/>
          <p:cNvSpPr txBox="1"/>
          <p:nvPr/>
        </p:nvSpPr>
        <p:spPr>
          <a:xfrm>
            <a:off x="8630717" y="2852928"/>
            <a:ext cx="28203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semantic plagiarism detection</a:t>
            </a:r>
            <a:endParaRPr lang="en-US" sz="1050" dirty="0"/>
          </a:p>
        </p:txBody>
      </p:sp>
      <p:pic>
        <p:nvPicPr>
          <p:cNvPr id="6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56397" y="3310128"/>
            <a:ext cx="182880" cy="182880"/>
          </a:xfrm>
          <a:prstGeom prst="rect">
            <a:avLst/>
          </a:prstGeom>
        </p:spPr>
      </p:pic>
      <p:sp>
        <p:nvSpPr>
          <p:cNvPr id="63" name="Text 46"/>
          <p:cNvSpPr txBox="1"/>
          <p:nvPr/>
        </p:nvSpPr>
        <p:spPr>
          <a:xfrm>
            <a:off x="8630717" y="3255264"/>
            <a:ext cx="28203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viva</a:t>
            </a:r>
            <a:endParaRPr lang="en-US" sz="1050" dirty="0"/>
          </a:p>
        </p:txBody>
      </p:sp>
      <p:pic>
        <p:nvPicPr>
          <p:cNvPr id="6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56397" y="3712464"/>
            <a:ext cx="182880" cy="182880"/>
          </a:xfrm>
          <a:prstGeom prst="rect">
            <a:avLst/>
          </a:prstGeom>
        </p:spPr>
      </p:pic>
      <p:sp>
        <p:nvSpPr>
          <p:cNvPr id="65" name="Text 47"/>
          <p:cNvSpPr txBox="1"/>
          <p:nvPr/>
        </p:nvSpPr>
        <p:spPr>
          <a:xfrm>
            <a:off x="8630717" y="3657600"/>
            <a:ext cx="28203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analytics dashboards</a:t>
            </a:r>
            <a:endParaRPr lang="en-US" sz="1050" dirty="0"/>
          </a:p>
        </p:txBody>
      </p:sp>
      <p:pic>
        <p:nvPicPr>
          <p:cNvPr id="6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56397" y="4114800"/>
            <a:ext cx="182880" cy="182880"/>
          </a:xfrm>
          <a:prstGeom prst="rect">
            <a:avLst/>
          </a:prstGeom>
        </p:spPr>
      </p:pic>
      <p:sp>
        <p:nvSpPr>
          <p:cNvPr id="67" name="Text 48"/>
          <p:cNvSpPr txBox="1"/>
          <p:nvPr/>
        </p:nvSpPr>
        <p:spPr>
          <a:xfrm>
            <a:off x="8630717" y="4059936"/>
            <a:ext cx="28203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performance analysis</a:t>
            </a:r>
            <a:endParaRPr lang="en-US" sz="1050" dirty="0"/>
          </a:p>
        </p:txBody>
      </p:sp>
      <p:pic>
        <p:nvPicPr>
          <p:cNvPr id="6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56397" y="4517136"/>
            <a:ext cx="182880" cy="182880"/>
          </a:xfrm>
          <a:prstGeom prst="rect">
            <a:avLst/>
          </a:prstGeom>
        </p:spPr>
      </p:pic>
      <p:sp>
        <p:nvSpPr>
          <p:cNvPr id="69" name="Text 49"/>
          <p:cNvSpPr txBox="1"/>
          <p:nvPr/>
        </p:nvSpPr>
        <p:spPr>
          <a:xfrm>
            <a:off x="8630717" y="4462272"/>
            <a:ext cx="28203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platform integration</a:t>
            </a:r>
            <a:endParaRPr lang="en-US" sz="1050" dirty="0"/>
          </a:p>
        </p:txBody>
      </p:sp>
      <p:sp>
        <p:nvSpPr>
          <p:cNvPr id="70" name="Shape 50"/>
          <p:cNvSpPr/>
          <p:nvPr/>
        </p:nvSpPr>
        <p:spPr>
          <a:xfrm>
            <a:off x="502920" y="5175504"/>
            <a:ext cx="1711909" cy="548640"/>
          </a:xfrm>
          <a:prstGeom prst="roundRect">
            <a:avLst>
              <a:gd name="adj" fmla="val 11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5800" y="5358384"/>
            <a:ext cx="182880" cy="182880"/>
          </a:xfrm>
          <a:prstGeom prst="rect">
            <a:avLst/>
          </a:prstGeom>
        </p:spPr>
      </p:pic>
      <p:sp>
        <p:nvSpPr>
          <p:cNvPr id="72" name="Text 51"/>
          <p:cNvSpPr txBox="1"/>
          <p:nvPr/>
        </p:nvSpPr>
        <p:spPr>
          <a:xfrm>
            <a:off x="941832" y="5175504"/>
            <a:ext cx="116326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850" dirty="0"/>
          </a:p>
        </p:txBody>
      </p:sp>
      <p:sp>
        <p:nvSpPr>
          <p:cNvPr id="73" name="Shape 52"/>
          <p:cNvSpPr/>
          <p:nvPr/>
        </p:nvSpPr>
        <p:spPr>
          <a:xfrm>
            <a:off x="2228545" y="5449824"/>
            <a:ext cx="155448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74" name="Shape 53"/>
          <p:cNvSpPr/>
          <p:nvPr/>
        </p:nvSpPr>
        <p:spPr>
          <a:xfrm>
            <a:off x="2397709" y="5175504"/>
            <a:ext cx="1711909" cy="548640"/>
          </a:xfrm>
          <a:prstGeom prst="roundRect">
            <a:avLst>
              <a:gd name="adj" fmla="val 11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580589" y="5358384"/>
            <a:ext cx="182880" cy="182880"/>
          </a:xfrm>
          <a:prstGeom prst="rect">
            <a:avLst/>
          </a:prstGeom>
        </p:spPr>
      </p:pic>
      <p:sp>
        <p:nvSpPr>
          <p:cNvPr id="76" name="Text 54"/>
          <p:cNvSpPr txBox="1"/>
          <p:nvPr/>
        </p:nvSpPr>
        <p:spPr>
          <a:xfrm>
            <a:off x="2836621" y="5175504"/>
            <a:ext cx="116326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50" dirty="0"/>
          </a:p>
        </p:txBody>
      </p:sp>
      <p:sp>
        <p:nvSpPr>
          <p:cNvPr id="77" name="Shape 55"/>
          <p:cNvSpPr/>
          <p:nvPr/>
        </p:nvSpPr>
        <p:spPr>
          <a:xfrm>
            <a:off x="4123334" y="5449824"/>
            <a:ext cx="155448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78" name="Shape 56"/>
          <p:cNvSpPr/>
          <p:nvPr/>
        </p:nvSpPr>
        <p:spPr>
          <a:xfrm>
            <a:off x="4292498" y="5175504"/>
            <a:ext cx="1711909" cy="548640"/>
          </a:xfrm>
          <a:prstGeom prst="roundRect">
            <a:avLst>
              <a:gd name="adj" fmla="val 11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9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75378" y="5358384"/>
            <a:ext cx="182880" cy="182880"/>
          </a:xfrm>
          <a:prstGeom prst="rect">
            <a:avLst/>
          </a:prstGeom>
        </p:spPr>
      </p:pic>
      <p:sp>
        <p:nvSpPr>
          <p:cNvPr id="80" name="Text 57"/>
          <p:cNvSpPr txBox="1"/>
          <p:nvPr/>
        </p:nvSpPr>
        <p:spPr>
          <a:xfrm>
            <a:off x="4731410" y="5175504"/>
            <a:ext cx="116326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EVALUATION</a:t>
            </a:r>
            <a:endParaRPr lang="en-US" sz="850" dirty="0"/>
          </a:p>
        </p:txBody>
      </p:sp>
      <p:sp>
        <p:nvSpPr>
          <p:cNvPr id="81" name="Shape 58"/>
          <p:cNvSpPr/>
          <p:nvPr/>
        </p:nvSpPr>
        <p:spPr>
          <a:xfrm>
            <a:off x="6018124" y="5449824"/>
            <a:ext cx="155448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82" name="Shape 59"/>
          <p:cNvSpPr/>
          <p:nvPr/>
        </p:nvSpPr>
        <p:spPr>
          <a:xfrm>
            <a:off x="6187288" y="5175504"/>
            <a:ext cx="1711909" cy="548640"/>
          </a:xfrm>
          <a:prstGeom prst="roundRect">
            <a:avLst>
              <a:gd name="adj" fmla="val 11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70168" y="5358384"/>
            <a:ext cx="182880" cy="182880"/>
          </a:xfrm>
          <a:prstGeom prst="rect">
            <a:avLst/>
          </a:prstGeom>
        </p:spPr>
      </p:pic>
      <p:sp>
        <p:nvSpPr>
          <p:cNvPr id="84" name="Text 60"/>
          <p:cNvSpPr txBox="1"/>
          <p:nvPr/>
        </p:nvSpPr>
        <p:spPr>
          <a:xfrm>
            <a:off x="6626200" y="5175504"/>
            <a:ext cx="116326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850" dirty="0"/>
          </a:p>
        </p:txBody>
      </p:sp>
      <p:sp>
        <p:nvSpPr>
          <p:cNvPr id="85" name="Shape 61"/>
          <p:cNvSpPr/>
          <p:nvPr/>
        </p:nvSpPr>
        <p:spPr>
          <a:xfrm>
            <a:off x="7912913" y="5449824"/>
            <a:ext cx="155448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86" name="Shape 62"/>
          <p:cNvSpPr/>
          <p:nvPr/>
        </p:nvSpPr>
        <p:spPr>
          <a:xfrm>
            <a:off x="8082077" y="5175504"/>
            <a:ext cx="1711909" cy="548640"/>
          </a:xfrm>
          <a:prstGeom prst="roundRect">
            <a:avLst>
              <a:gd name="adj" fmla="val 11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7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264957" y="5358384"/>
            <a:ext cx="182880" cy="182880"/>
          </a:xfrm>
          <a:prstGeom prst="rect">
            <a:avLst/>
          </a:prstGeom>
        </p:spPr>
      </p:pic>
      <p:sp>
        <p:nvSpPr>
          <p:cNvPr id="88" name="Text 63"/>
          <p:cNvSpPr txBox="1"/>
          <p:nvPr/>
        </p:nvSpPr>
        <p:spPr>
          <a:xfrm>
            <a:off x="8520989" y="5175504"/>
            <a:ext cx="116326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89" name="Shape 64"/>
          <p:cNvSpPr/>
          <p:nvPr/>
        </p:nvSpPr>
        <p:spPr>
          <a:xfrm>
            <a:off x="9807702" y="5449824"/>
            <a:ext cx="155448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90" name="Shape 65"/>
          <p:cNvSpPr/>
          <p:nvPr/>
        </p:nvSpPr>
        <p:spPr>
          <a:xfrm>
            <a:off x="9976866" y="5175504"/>
            <a:ext cx="1711909" cy="548640"/>
          </a:xfrm>
          <a:prstGeom prst="roundRect">
            <a:avLst>
              <a:gd name="adj" fmla="val 11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1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159746" y="5358384"/>
            <a:ext cx="182880" cy="182880"/>
          </a:xfrm>
          <a:prstGeom prst="rect">
            <a:avLst/>
          </a:prstGeom>
        </p:spPr>
      </p:pic>
      <p:sp>
        <p:nvSpPr>
          <p:cNvPr id="92" name="Text 66"/>
          <p:cNvSpPr txBox="1"/>
          <p:nvPr/>
        </p:nvSpPr>
        <p:spPr>
          <a:xfrm>
            <a:off x="10415778" y="5175504"/>
            <a:ext cx="116326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850" dirty="0"/>
          </a:p>
        </p:txBody>
      </p:sp>
      <p:pic>
        <p:nvPicPr>
          <p:cNvPr id="93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02920" y="5888736"/>
            <a:ext cx="11185855" cy="530352"/>
          </a:xfrm>
          <a:prstGeom prst="rect">
            <a:avLst/>
          </a:prstGeom>
        </p:spPr>
      </p:pic>
      <p:pic>
        <p:nvPicPr>
          <p:cNvPr id="94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40664" y="5998464"/>
            <a:ext cx="310896" cy="310896"/>
          </a:xfrm>
          <a:prstGeom prst="rect">
            <a:avLst/>
          </a:prstGeom>
        </p:spPr>
      </p:pic>
      <p:sp>
        <p:nvSpPr>
          <p:cNvPr id="95" name="Text 67"/>
          <p:cNvSpPr txBox="1"/>
          <p:nvPr/>
        </p:nvSpPr>
        <p:spPr>
          <a:xfrm>
            <a:off x="1161288" y="5888736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PROVALIX AI</a:t>
            </a:r>
            <a:endParaRPr lang="en-US" sz="1600" dirty="0"/>
          </a:p>
        </p:txBody>
      </p:sp>
      <p:sp>
        <p:nvSpPr>
          <p:cNvPr id="96" name="Text 68"/>
          <p:cNvSpPr txBox="1"/>
          <p:nvPr/>
        </p:nvSpPr>
        <p:spPr>
          <a:xfrm>
            <a:off x="4160520" y="5888736"/>
            <a:ext cx="72539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i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“From Project Submission to Intelligent Evaluation.”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Provalix AI — AI-Based Automated Student Project Evaluation Platform</dc:title>
  <dc:subject>PptxGenJS Presentation</dc:subject>
  <dc:creator>Provalix AI</dc:creator>
  <cp:lastModifiedBy>Provalix AI</cp:lastModifiedBy>
  <cp:revision>1</cp:revision>
  <dcterms:created xsi:type="dcterms:W3CDTF">2026-09-19T03:51:56Z</dcterms:created>
  <dcterms:modified xsi:type="dcterms:W3CDTF">2026-09-19T03:51:56Z</dcterms:modified>
</cp:coreProperties>
</file>